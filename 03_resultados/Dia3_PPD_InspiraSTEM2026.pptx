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13" r:id="rId4"/>
  </p:sldMasterIdLst>
  <p:notesMasterIdLst>
    <p:notesMasterId r:id="rId18"/>
  </p:notesMasterIdLst>
  <p:handoutMasterIdLst>
    <p:handoutMasterId r:id="rId19"/>
  </p:handoutMasterIdLst>
  <p:sldIdLst>
    <p:sldId id="258" r:id="rId5"/>
    <p:sldId id="277" r:id="rId6"/>
    <p:sldId id="278" r:id="rId7"/>
    <p:sldId id="280" r:id="rId8"/>
    <p:sldId id="283" r:id="rId9"/>
    <p:sldId id="279" r:id="rId10"/>
    <p:sldId id="282" r:id="rId11"/>
    <p:sldId id="281" r:id="rId12"/>
    <p:sldId id="264" r:id="rId13"/>
    <p:sldId id="267" r:id="rId14"/>
    <p:sldId id="261" r:id="rId15"/>
    <p:sldId id="28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4" autoAdjust="0"/>
    <p:restoredTop sz="91385" autoAdjust="0"/>
  </p:normalViewPr>
  <p:slideViewPr>
    <p:cSldViewPr showGuides="1">
      <p:cViewPr>
        <p:scale>
          <a:sx n="122" d="100"/>
          <a:sy n="122" d="100"/>
        </p:scale>
        <p:origin x="648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2B9C-911F-B7C9-30A7-AEFDB35B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18DF6-A07C-0614-3E12-7E201848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34DCC-50D8-7FE2-1A57-C4D30236D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8BEAA-68F4-843B-1282-8B6C9BE08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11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155B2-B5CD-3ACD-1C61-D90F3E48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91B93-BA1D-74D3-A8FD-72F60CA9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25603-7B83-4B19-97CE-385D4D76D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9CC80-7E11-F5C1-E4BF-5734108C0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28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A550-94BF-3BB2-502D-9DB4433E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494B9-A86A-7ACF-5A3A-8AE3FDA53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F6282-6009-D008-9008-D02AFB182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53564-F0D3-511E-8DF7-E2A08DD60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4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EF60-7232-692B-C88C-3246DE72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43998-E8A1-82B8-76EB-6CA608FEC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F803B-B499-0FD3-2263-947BE8DC1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87D39-6367-55E4-4BFC-AC2E3674C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4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652B2-E361-A1E6-EF5C-CC02CC6D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E4BBE-404E-1600-D3C6-D40D76C56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97A0C-1033-B9E8-7CDF-CAB04ECF4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CC30C-900F-7C4B-A94F-46AF89A44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60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CC94-0D21-ABA1-8602-BB3B1C6D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FC0D0-48D9-EB0C-37B7-D06D12078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0799F-88DD-E93C-CD97-450A86426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5A77E-6C63-BF8E-E95E-DAF1C7F3F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02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CE57-2E53-9919-3DEC-371CFABA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90211-ADF0-2D0A-E43E-26544CD99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5C9EA-782E-7F92-ED49-A630F82ED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ECE71-8613-36FF-C9C9-E6B69FD37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7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01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85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733F41-0D5D-4BD1-9B7A-D4E6507FF061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CA07995-5D53-4776-85C9-63AB19177BBD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05EB9AD9-3A09-43DA-BE06-99F2877C8370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E713609-24E4-49C2-8D3B-54DF98B5FB15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FB90B-BD82-4285-8703-51C27E8EBB24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E552079-66A3-4E75-868B-9BDD1552A3D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D90A2E-1B22-4804-9B7B-7BF58B42AB6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470F8402-2A40-4993-B30B-96CC0AA51B13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F96641-E00A-4310-B8FB-C135D0C5873A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CB15CD1-0A2D-4058-B7BD-5251874E8FC8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5DB5B10A-5083-404B-BC8E-8C7FFE2C14CB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3A12148-5DA4-4983-90AA-A6D6C9D21BFF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E352-598A-4B1B-B5C3-5AF0F480D9F4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D1738-F72D-408F-AEE4-26AF1CA64327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D88C37A-4495-4513-9713-FE58B2562479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71237A6-433D-4685-950E-B488DB1C21EB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2D0B93-F0C6-4EDC-8D01-21AF8414DB0B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60B16E6A-BE66-4C10-B2EF-82D497452037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75525F09-654A-4986-AEB5-105943927FFF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6B95A195-06ED-425C-AE42-5F401074E527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FE0BBBF-88A1-45D0-92F4-688C9A9EB746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B9A693-1CEA-4CE5-97C0-B744E2E4C443}" type="datetime1">
              <a:rPr lang="en-US" smtClean="0"/>
              <a:t>9/20/26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DB4E5125-F631-497D-9D66-6B16EDCEF9EC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E3E2ABA-0858-4C47-B63B-EB20BF7CDCB4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8188D3-29F4-441A-8648-3BEDA709658E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F55E9-8BCB-4919-8BA5-D3C6BE098DEB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E2DBAF7-BE63-4E6D-BB43-E0515C135A52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9738B68-D6E8-46F0-93D8-563AD462B8A4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0700CB6-F9D2-4B8E-8051-B1762706001A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8F378176-AAE8-4F37-8F8B-ADE84F78A1B1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595CD5CC-4A00-4D28-83B4-F3F2A23123B8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A8039BA-3C75-4618-B997-02D66D8586A4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F010729-9569-4BCC-BA95-64D9BD5D6003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D27EA42-A686-45A5-AF28-A9A65D1B7CD0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EBB8B5-730B-460E-BA44-03132175559A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1E1193-774B-469D-864C-185CEC0EFAE5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E4E8EC-2A9C-4605-821D-8DBAECA8A8B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6F9C198-7AE4-4F70-AC2C-3DB14520373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ADC42D8-3B39-489F-839A-17611120488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2DF06D-1997-4801-9B88-7726F795FD79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CA3387-2F47-4E10-875A-30F0CB9BAFB6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B2901A-0F4A-4593-B4AB-ECAEA3E5234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DC92FC0-6BB4-4429-A405-7158E0DB56FE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FC58507-C109-472E-B16B-67DD91B4ED1A}" type="datetime1">
              <a:rPr lang="en-US" smtClean="0"/>
              <a:t>9/20/26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4D97B1D-D35A-475A-8EDC-9E7F2D918F4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ED768F6-FB0A-4303-8421-8700A9DEBB71}" type="datetime1">
              <a:rPr lang="en-US" smtClean="0"/>
              <a:t>9/20/26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82D3FB6-7E9D-4256-8D31-00BFBB8DCD1A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7D408E8-C1B2-4341-B9C3-278DE31F8035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CB1180A-E2AC-4574-9715-A7F3D1E99C1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A4791F-41EB-4FE7-AAC7-0A7EEDE403C2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4071905-686E-4E27-9996-F57E08427CAA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s-astro/inspirastem-ppd-CO/tree/main/03_resultado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presentation/d/1uAjGRU3jIdWKPMaj5j1USf0AklKLHS3xEU0oOeFCUV0/edit?usp=sharing" TargetMode="External"/><Relationship Id="rId4" Type="http://schemas.openxmlformats.org/officeDocument/2006/relationships/hyperlink" Target="https://colab.research.google.com/github/mas-astro/inspirastem-ppd-CO/blob/main/03_resultados/dia3_actividad.ipynb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uAjGRU3jIdWKPMaj5j1USf0AklKLHS3xEU0oOeFCUV0/edit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exod/iSLA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linkedin.com/in/michael-s%C3%A1nchez-astronomer2002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20D21D-E70A-8481-5F47-EA59DBCAB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48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28600"/>
            <a:ext cx="11963400" cy="2180594"/>
          </a:xfrm>
        </p:spPr>
        <p:txBody>
          <a:bodyPr>
            <a:noAutofit/>
          </a:bodyPr>
          <a:lstStyle/>
          <a:p>
            <a:r>
              <a:rPr lang="es-SV" sz="6600" noProof="0" dirty="0"/>
              <a:t>Planetas en Construcción:</a:t>
            </a:r>
            <a:br>
              <a:rPr lang="es-SV" sz="6600" noProof="0" dirty="0"/>
            </a:br>
            <a:r>
              <a:rPr lang="es-SV" sz="4800" noProof="0" dirty="0"/>
              <a:t>Un Viaje a Través de </a:t>
            </a:r>
            <a:br>
              <a:rPr lang="es-SV" sz="4800" noProof="0" dirty="0"/>
            </a:br>
            <a:r>
              <a:rPr lang="es-SV" sz="4800" noProof="0" dirty="0" err="1"/>
              <a:t>Espectra</a:t>
            </a:r>
            <a:r>
              <a:rPr lang="es-SV" sz="4800" noProof="0" dirty="0"/>
              <a:t> molecular</a:t>
            </a:r>
            <a:br>
              <a:rPr lang="es-SV" sz="4800" noProof="0" dirty="0"/>
            </a:br>
            <a:r>
              <a:rPr lang="es-SV" sz="4800" noProof="0" dirty="0"/>
              <a:t>Dia 3</a:t>
            </a:r>
            <a:endParaRPr lang="es-SV" sz="4200" noProof="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29200"/>
            <a:ext cx="6324602" cy="1600199"/>
          </a:xfrm>
        </p:spPr>
        <p:txBody>
          <a:bodyPr>
            <a:normAutofit/>
          </a:bodyPr>
          <a:lstStyle/>
          <a:p>
            <a:r>
              <a:rPr lang="es-SV" sz="2000" noProof="0" dirty="0"/>
              <a:t>Michael Sánchez, </a:t>
            </a:r>
            <a:r>
              <a:rPr lang="es-SV" sz="2000" noProof="0" dirty="0" err="1"/>
              <a:t>M.Sc</a:t>
            </a:r>
            <a:r>
              <a:rPr lang="es-SV" sz="2000" noProof="0" dirty="0"/>
              <a:t>.</a:t>
            </a:r>
          </a:p>
          <a:p>
            <a:r>
              <a:rPr lang="es-SV" sz="2000" noProof="0" dirty="0"/>
              <a:t>Analista de Datos </a:t>
            </a:r>
          </a:p>
          <a:p>
            <a:r>
              <a:rPr lang="es-SV" sz="2000" noProof="0" dirty="0"/>
              <a:t>Observatorio Nacional de Radio Astronomía (NRAO)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BDFD1-3BCA-CBED-54C1-D2A4EA7CBE80}"/>
              </a:ext>
            </a:extLst>
          </p:cNvPr>
          <p:cNvSpPr txBox="1"/>
          <p:nvPr/>
        </p:nvSpPr>
        <p:spPr>
          <a:xfrm>
            <a:off x="5300870" y="5506133"/>
            <a:ext cx="6508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SV" sz="2000" noProof="0" dirty="0">
                <a:solidFill>
                  <a:schemeClr val="bg1"/>
                </a:solidFill>
              </a:rPr>
              <a:t>21 Septiembre 2026</a:t>
            </a:r>
          </a:p>
          <a:p>
            <a:pPr algn="r"/>
            <a:r>
              <a:rPr lang="es-SV" sz="2000" noProof="0" dirty="0" err="1">
                <a:solidFill>
                  <a:schemeClr val="bg1"/>
                </a:solidFill>
              </a:rPr>
              <a:t>InspiraSTEM</a:t>
            </a:r>
            <a:r>
              <a:rPr lang="es-SV" sz="2000" noProof="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0" name="Picture 2" descr="Carbon monoxide poisoning - Wikipedia">
            <a:extLst>
              <a:ext uri="{FF2B5EF4-FFF2-40B4-BE49-F238E27FC236}">
                <a16:creationId xmlns:a16="http://schemas.microsoft.com/office/drawing/2014/main" id="{B77F8338-1EDB-2933-C736-F4E1B397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7563">
            <a:off x="6673385" y="3265302"/>
            <a:ext cx="233533" cy="11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arbon monoxide poisoning - Wikipedia">
            <a:extLst>
              <a:ext uri="{FF2B5EF4-FFF2-40B4-BE49-F238E27FC236}">
                <a16:creationId xmlns:a16="http://schemas.microsoft.com/office/drawing/2014/main" id="{D72E511A-3C26-AEE0-E5A1-ED46F87C2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8419">
            <a:off x="6848825" y="4005521"/>
            <a:ext cx="426998" cy="21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arbon monoxide poisoning - Wikipedia">
            <a:extLst>
              <a:ext uri="{FF2B5EF4-FFF2-40B4-BE49-F238E27FC236}">
                <a16:creationId xmlns:a16="http://schemas.microsoft.com/office/drawing/2014/main" id="{261B652E-8304-D5F5-6CD4-13B67C6C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023696" y="3633587"/>
            <a:ext cx="270452" cy="13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arbon monoxide poisoning - Wikipedia">
            <a:extLst>
              <a:ext uri="{FF2B5EF4-FFF2-40B4-BE49-F238E27FC236}">
                <a16:creationId xmlns:a16="http://schemas.microsoft.com/office/drawing/2014/main" id="{22F22052-D672-7213-4B6C-85DE74B0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74327">
            <a:off x="5955370" y="3885425"/>
            <a:ext cx="457200" cy="23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arbon monoxide poisoning - Wikipedia">
            <a:extLst>
              <a:ext uri="{FF2B5EF4-FFF2-40B4-BE49-F238E27FC236}">
                <a16:creationId xmlns:a16="http://schemas.microsoft.com/office/drawing/2014/main" id="{F6DB138D-1220-9951-BE42-627CDE901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76629">
            <a:off x="5362292" y="3357813"/>
            <a:ext cx="414319" cy="20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arbon monoxide poisoning - Wikipedia">
            <a:extLst>
              <a:ext uri="{FF2B5EF4-FFF2-40B4-BE49-F238E27FC236}">
                <a16:creationId xmlns:a16="http://schemas.microsoft.com/office/drawing/2014/main" id="{6759FE15-6FA7-979E-4C4C-AA8B7764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31299">
            <a:off x="5928269" y="3219813"/>
            <a:ext cx="346250" cy="17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A15950-5EA7-BE7A-856D-D5E0AA531999}"/>
              </a:ext>
            </a:extLst>
          </p:cNvPr>
          <p:cNvSpPr txBox="1"/>
          <p:nvPr/>
        </p:nvSpPr>
        <p:spPr>
          <a:xfrm>
            <a:off x="9616848" y="6581001"/>
            <a:ext cx="2567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100" noProof="0" dirty="0" err="1"/>
              <a:t>Credito</a:t>
            </a:r>
            <a:r>
              <a:rPr lang="es-SV" sz="1100" noProof="0" dirty="0"/>
              <a:t> de imagen: ESO/L. Calçada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299E8-183E-98C2-AE1C-A79A893E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5EEE-4394-E0D1-E8F5-580D06DE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Modelo lte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F548A-7942-90E5-D4F8-07C24E01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52E3D-7029-470B-32D4-6744ED50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2</a:t>
            </a:fld>
            <a:endParaRPr lang="es-SV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87E6A-D4F5-A364-AEC0-DCE35D50D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698" y="1297544"/>
            <a:ext cx="3581400" cy="2406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AABC4E-58AB-CEEB-2F1B-F1CF29941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563" y="1148892"/>
            <a:ext cx="3952571" cy="2705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C636BE-26C6-84D0-56A3-6739EF04E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698" y="4085956"/>
            <a:ext cx="3465409" cy="2463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B5484B-A962-1E97-0470-F1757A0D0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158" y="3881414"/>
            <a:ext cx="4151209" cy="295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2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674B7-A2BD-E90B-6F45-292A1D20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ED48-664E-A056-5E2F-9EC282B4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Modelo lte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711E5-50FB-EEBB-D143-249D57D8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509B9-2A35-738C-992A-BBD56C7A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3</a:t>
            </a:fld>
            <a:endParaRPr lang="es-SV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06D879-A578-3822-1887-7FABA5EE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722" y="1127815"/>
            <a:ext cx="3807374" cy="2706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CC2173-E809-1100-1329-AFF602936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7459" y="3915870"/>
            <a:ext cx="3581400" cy="25461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A1EB9-ADD1-F924-B389-231B1D86F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722" y="4002305"/>
            <a:ext cx="3807374" cy="2706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3AD3CC-0DBC-E7CD-B409-76C9CBE1D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8449" y="1148893"/>
            <a:ext cx="3720410" cy="254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3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127A2-4BE5-5611-331E-655F560D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4B5E-6AF9-B3BD-5F08-57CE0F21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Modelo lte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34B29-6256-29B9-DD48-5B526B2F0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E6B28-1AFB-4BC3-534C-1BAF89C9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4</a:t>
            </a:fld>
            <a:endParaRPr lang="es-SV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8F3601-853E-E942-C2BE-9031EAC3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03" y="1560132"/>
            <a:ext cx="10963656" cy="4343400"/>
          </a:xfrm>
        </p:spPr>
        <p:txBody>
          <a:bodyPr/>
          <a:lstStyle/>
          <a:p>
            <a:r>
              <a:rPr lang="es-ES_tradnl" sz="2400" noProof="0" dirty="0"/>
              <a:t>GitHub! </a:t>
            </a:r>
          </a:p>
          <a:p>
            <a:r>
              <a:rPr lang="es-ES_tradnl" sz="2400" dirty="0">
                <a:hlinkClick r:id="rId3"/>
              </a:rPr>
              <a:t>https://github.com/mas-astro/inspirastem-ppd-CO/tree/main/03_resultados</a:t>
            </a:r>
            <a:endParaRPr lang="es-ES_tradnl" sz="2400" noProof="0" dirty="0"/>
          </a:p>
          <a:p>
            <a:r>
              <a:rPr lang="es-ES_tradnl" sz="2400" noProof="0" dirty="0"/>
              <a:t>Google </a:t>
            </a:r>
            <a:r>
              <a:rPr lang="es-ES_tradnl" sz="2400" noProof="0" dirty="0" err="1"/>
              <a:t>Colab</a:t>
            </a:r>
            <a:endParaRPr lang="es-ES_tradnl" sz="2400" noProof="0" dirty="0"/>
          </a:p>
          <a:p>
            <a:r>
              <a:rPr lang="es-ES_tradnl" sz="2400" dirty="0">
                <a:hlinkClick r:id="rId4"/>
              </a:rPr>
              <a:t>https://colab.research.google.com/github/mas-astro/inspirastem-ppd-CO/blob/main/03_resultados/dia3_actividad.ipynb</a:t>
            </a:r>
            <a:endParaRPr lang="es-ES_tradnl" sz="2400" dirty="0"/>
          </a:p>
          <a:p>
            <a:endParaRPr lang="es-ES_tradnl" sz="2400" noProof="0" dirty="0"/>
          </a:p>
          <a:p>
            <a:r>
              <a:rPr lang="es-ES_tradnl" sz="2400" dirty="0"/>
              <a:t>Google </a:t>
            </a:r>
            <a:r>
              <a:rPr lang="es-ES_tradnl" sz="2400" dirty="0" err="1"/>
              <a:t>Slides</a:t>
            </a:r>
            <a:endParaRPr lang="es-ES_tradnl" sz="2400" noProof="0" dirty="0"/>
          </a:p>
          <a:p>
            <a:r>
              <a:rPr lang="es-ES_tradnl" sz="2400" dirty="0">
                <a:hlinkClick r:id="rId5"/>
              </a:rPr>
              <a:t>https://docs.google.com/presentation/d/1uAjGRU3jIdWKPMaj5j1USf0AklKLHS3xEU0oOeFCUV0/edit?usp=sharing</a:t>
            </a:r>
            <a:endParaRPr lang="es-ES_tradnl" sz="2400" dirty="0"/>
          </a:p>
          <a:p>
            <a:endParaRPr lang="es-ES_tradnl" sz="2400" noProof="0" dirty="0"/>
          </a:p>
        </p:txBody>
      </p:sp>
    </p:spTree>
    <p:extLst>
      <p:ext uri="{BB962C8B-B14F-4D97-AF65-F5344CB8AC3E}">
        <p14:creationId xmlns:p14="http://schemas.microsoft.com/office/powerpoint/2010/main" val="164865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FD8AE-9919-AA1C-1924-5F4EB256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613A-DDD2-F42D-B63E-92486D1D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Modelo lte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5C4CE-F096-5F87-D4ED-9EDA726C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FA156-E626-CFF6-F260-D98F40F1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5</a:t>
            </a:fld>
            <a:endParaRPr lang="es-SV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CC737B-6E59-6B70-CDB6-E0008558E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03" y="1560132"/>
            <a:ext cx="10963656" cy="4343400"/>
          </a:xfrm>
        </p:spPr>
        <p:txBody>
          <a:bodyPr/>
          <a:lstStyle/>
          <a:p>
            <a:r>
              <a:rPr lang="es-ES_tradnl" sz="2400" dirty="0"/>
              <a:t>Google </a:t>
            </a:r>
            <a:r>
              <a:rPr lang="es-ES_tradnl" sz="2400" dirty="0" err="1"/>
              <a:t>Slides</a:t>
            </a:r>
            <a:endParaRPr lang="es-ES_tradnl" sz="2400" noProof="0" dirty="0"/>
          </a:p>
          <a:p>
            <a:r>
              <a:rPr lang="es-ES_tradnl" sz="2400" dirty="0">
                <a:hlinkClick r:id="rId3"/>
              </a:rPr>
              <a:t>https://docs.google.com/presentation/d/1uAjGRU3jIdWKPMaj5j1USf0AklKLHS3xEU0oOeFCUV0/edit?usp=sharing</a:t>
            </a:r>
            <a:endParaRPr lang="es-ES_tradnl" sz="2400" dirty="0"/>
          </a:p>
          <a:p>
            <a:r>
              <a:rPr lang="es-ES_tradnl" sz="2400" noProof="0" dirty="0"/>
              <a:t>Instrucciones: </a:t>
            </a:r>
          </a:p>
          <a:p>
            <a:r>
              <a:rPr lang="es-ES_tradnl" sz="2400" dirty="0"/>
              <a:t>A</a:t>
            </a:r>
            <a:r>
              <a:rPr lang="es-ES_tradnl" sz="2400" noProof="0" dirty="0"/>
              <a:t>bren las diapositivas con el enlace de Google y encuentra su disco. Pondrán los valores de temperatura y densidad de columna que mejor describen tu disco. </a:t>
            </a:r>
          </a:p>
          <a:p>
            <a:r>
              <a:rPr lang="es-ES_tradnl" sz="2400" noProof="0" dirty="0"/>
              <a:t>Usa la tabla y la información que hemos aprendido en este taller para dar una descripción del contenido de </a:t>
            </a:r>
            <a:r>
              <a:rPr lang="es-ES_tradnl" sz="2400" noProof="0" dirty="0" err="1"/>
              <a:t>ga</a:t>
            </a:r>
            <a:r>
              <a:rPr lang="es-ES_tradnl" sz="2400" dirty="0"/>
              <a:t>s molecular en tu disco.</a:t>
            </a:r>
          </a:p>
          <a:p>
            <a:r>
              <a:rPr lang="es-ES_tradnl" sz="2400" noProof="0" dirty="0"/>
              <a:t>Cuando todos </a:t>
            </a:r>
            <a:r>
              <a:rPr lang="es-ES_tradnl" sz="2400" dirty="0"/>
              <a:t>terminan, cada grupo presentara sus encuentros</a:t>
            </a:r>
            <a:endParaRPr lang="es-ES_tradnl" sz="2400" noProof="0" dirty="0"/>
          </a:p>
        </p:txBody>
      </p:sp>
    </p:spTree>
    <p:extLst>
      <p:ext uri="{BB962C8B-B14F-4D97-AF65-F5344CB8AC3E}">
        <p14:creationId xmlns:p14="http://schemas.microsoft.com/office/powerpoint/2010/main" val="396992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9CCF-5693-D8A1-DC0E-2AB9EC47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C421-6485-4A1B-8F46-0BFDC68D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Diagrama de rotacion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ABFB9-3458-E4A6-BDE6-EBF07F36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99350-1423-B6AC-0093-CB2ECB95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6</a:t>
            </a:fld>
            <a:endParaRPr lang="es-SV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CF18DF-C91E-D709-8911-331CD39F556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788" y="2759178"/>
            <a:ext cx="8672946" cy="35138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AEB04-A592-03C0-0D73-D99AA50C3E85}"/>
                  </a:ext>
                </a:extLst>
              </p:cNvPr>
              <p:cNvSpPr txBox="1"/>
              <p:nvPr/>
            </p:nvSpPr>
            <p:spPr>
              <a:xfrm>
                <a:off x="2799731" y="1268159"/>
                <a:ext cx="3672159" cy="864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𝑢𝑙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𝑢𝑙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AEB04-A592-03C0-0D73-D99AA50C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731" y="1268159"/>
                <a:ext cx="3672159" cy="864404"/>
              </a:xfrm>
              <a:prstGeom prst="rect">
                <a:avLst/>
              </a:prstGeom>
              <a:blipFill>
                <a:blip r:embed="rId4"/>
                <a:stretch>
                  <a:fillRect l="-1034" t="-144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5E0F27-C2FB-E8F8-8566-492D53122D38}"/>
                  </a:ext>
                </a:extLst>
              </p:cNvPr>
              <p:cNvSpPr txBox="1"/>
              <p:nvPr/>
            </p:nvSpPr>
            <p:spPr>
              <a:xfrm>
                <a:off x="8026670" y="1308747"/>
                <a:ext cx="1022716" cy="78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f>
                            <m:f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5E0F27-C2FB-E8F8-8566-492D53122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670" y="1308747"/>
                <a:ext cx="1022716" cy="783228"/>
              </a:xfrm>
              <a:prstGeom prst="rect">
                <a:avLst/>
              </a:prstGeom>
              <a:blipFill>
                <a:blip r:embed="rId5"/>
                <a:stretch>
                  <a:fillRect l="-7407" t="-3226" r="-1235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3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D081-F86A-A7FA-56DC-41A555BE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81C0-F9F1-2643-9E28-D1E696B4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Diagrama de rotacion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4EF92-70BB-C652-AF22-07DCFC80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7A7D9-3B1A-646C-7B5E-69AF0CEC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7</a:t>
            </a:fld>
            <a:endParaRPr lang="es-SV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2EB8B-BC72-ED80-A9E1-3BB36CAEBAF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56"/>
          <a:stretch/>
        </p:blipFill>
        <p:spPr bwMode="auto">
          <a:xfrm>
            <a:off x="7331245" y="1680898"/>
            <a:ext cx="4860755" cy="3943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EB34A-FB0D-98EB-876E-BBEC0CA9F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52" y="1536549"/>
            <a:ext cx="3149502" cy="21158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82AE1C-C36F-BD48-1D86-60893DD95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454" y="1536549"/>
            <a:ext cx="3091741" cy="2115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5C8EA-58EB-8DBB-D308-394EFB752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235" y="3652431"/>
            <a:ext cx="2976219" cy="21158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32A19E-C1F3-D421-0597-F9420248E8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6470" y="3652431"/>
            <a:ext cx="2976219" cy="21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2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54FF-FA74-1602-0FB6-B7888AF2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B15A-DFC9-249E-EF1C-BCBDA2F1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57708"/>
            <a:ext cx="10963655" cy="762001"/>
          </a:xfrm>
        </p:spPr>
        <p:txBody>
          <a:bodyPr/>
          <a:lstStyle/>
          <a:p>
            <a:r>
              <a:rPr lang="es-SV" noProof="0" dirty="0"/>
              <a:t>Diagrama de rotacion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DBF45-CE26-8786-DA82-BAAA1306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A571E-5ED1-B591-9689-39AC70EA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8</a:t>
            </a:fld>
            <a:endParaRPr lang="es-SV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DC34A-480A-E422-1BC9-83EDE8EAAE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56"/>
          <a:stretch/>
        </p:blipFill>
        <p:spPr bwMode="auto">
          <a:xfrm>
            <a:off x="7309150" y="1526658"/>
            <a:ext cx="4897416" cy="3972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70E72-AD31-09CC-8F30-19B7DF6A0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020" y="1451367"/>
            <a:ext cx="2976219" cy="21158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70DA0-F5C7-0C7C-D2F2-E5B3C6801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530" y="3567249"/>
            <a:ext cx="2976219" cy="2115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81B5C4-FF8B-C970-4263-D9F64B597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421" y="3567249"/>
            <a:ext cx="2976219" cy="21158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6EC5AD-1F92-0664-51F8-768FA4F0C7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44" y="1451367"/>
            <a:ext cx="3091741" cy="21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2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01AF-6391-1403-F6BC-A381A41A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48920"/>
            <a:ext cx="10963655" cy="1527481"/>
          </a:xfrm>
        </p:spPr>
        <p:txBody>
          <a:bodyPr/>
          <a:lstStyle/>
          <a:p>
            <a:r>
              <a:rPr lang="es-SV" dirty="0"/>
              <a:t>Resultados de lte modelo</a:t>
            </a:r>
            <a:br>
              <a:rPr lang="es-SV" dirty="0"/>
            </a:br>
            <a:r>
              <a:rPr lang="es-SV" dirty="0"/>
              <a:t>estaban cerca?</a:t>
            </a:r>
            <a:endParaRPr lang="es-SV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5A4AA596-4C2D-6F23-AAE2-E5158608C07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07171434"/>
                  </p:ext>
                </p:extLst>
              </p:nvPr>
            </p:nvGraphicFramePr>
            <p:xfrm>
              <a:off x="1041730" y="1924352"/>
              <a:ext cx="10319969" cy="44196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36254">
                      <a:extLst>
                        <a:ext uri="{9D8B030D-6E8A-4147-A177-3AD203B41FA5}">
                          <a16:colId xmlns:a16="http://schemas.microsoft.com/office/drawing/2014/main" val="3780712506"/>
                        </a:ext>
                      </a:extLst>
                    </a:gridCol>
                    <a:gridCol w="1021280">
                      <a:extLst>
                        <a:ext uri="{9D8B030D-6E8A-4147-A177-3AD203B41FA5}">
                          <a16:colId xmlns:a16="http://schemas.microsoft.com/office/drawing/2014/main" val="2901699024"/>
                        </a:ext>
                      </a:extLst>
                    </a:gridCol>
                    <a:gridCol w="907804">
                      <a:extLst>
                        <a:ext uri="{9D8B030D-6E8A-4147-A177-3AD203B41FA5}">
                          <a16:colId xmlns:a16="http://schemas.microsoft.com/office/drawing/2014/main" val="3490994302"/>
                        </a:ext>
                      </a:extLst>
                    </a:gridCol>
                    <a:gridCol w="1248231">
                      <a:extLst>
                        <a:ext uri="{9D8B030D-6E8A-4147-A177-3AD203B41FA5}">
                          <a16:colId xmlns:a16="http://schemas.microsoft.com/office/drawing/2014/main" val="1376927861"/>
                        </a:ext>
                      </a:extLst>
                    </a:gridCol>
                    <a:gridCol w="1134755">
                      <a:extLst>
                        <a:ext uri="{9D8B030D-6E8A-4147-A177-3AD203B41FA5}">
                          <a16:colId xmlns:a16="http://schemas.microsoft.com/office/drawing/2014/main" val="4275544208"/>
                        </a:ext>
                      </a:extLst>
                    </a:gridCol>
                    <a:gridCol w="1815610">
                      <a:extLst>
                        <a:ext uri="{9D8B030D-6E8A-4147-A177-3AD203B41FA5}">
                          <a16:colId xmlns:a16="http://schemas.microsoft.com/office/drawing/2014/main" val="674533625"/>
                        </a:ext>
                      </a:extLst>
                    </a:gridCol>
                    <a:gridCol w="1021280">
                      <a:extLst>
                        <a:ext uri="{9D8B030D-6E8A-4147-A177-3AD203B41FA5}">
                          <a16:colId xmlns:a16="http://schemas.microsoft.com/office/drawing/2014/main" val="1383949315"/>
                        </a:ext>
                      </a:extLst>
                    </a:gridCol>
                    <a:gridCol w="1134755">
                      <a:extLst>
                        <a:ext uri="{9D8B030D-6E8A-4147-A177-3AD203B41FA5}">
                          <a16:colId xmlns:a16="http://schemas.microsoft.com/office/drawing/2014/main" val="4114833957"/>
                        </a:ext>
                      </a:extLst>
                    </a:gridCol>
                  </a:tblGrid>
                  <a:tr h="73660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Star Name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</a:rPr>
                                      <m:t>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</a:rPr>
                                      <m:t>𝐋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</a:rPr>
                                      <m:t>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lang="en-US" sz="1200">
                                        <a:effectLst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1200">
                                        <a:effectLst/>
                                      </a:rPr>
                                      <m:t>𝐥𝐨𝐠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sz="12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>
                                            <a:effectLst/>
                                          </a:rPr>
                                          <m:t>𝐋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effectLst/>
                                          </a:rPr>
                                          <m:t>𝒂𝒄𝒄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</a:rPr>
                                      <m:t>𝟏𝟑</m:t>
                                    </m:r>
                                    <m:r>
                                      <a:rPr lang="en-US" sz="1200">
                                        <a:effectLst/>
                                      </a:rPr>
                                      <m:t>−</m:t>
                                    </m:r>
                                    <m:r>
                                      <a:rPr lang="en-US" sz="1200">
                                        <a:effectLst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Dust</a:t>
                          </a:r>
                        </a:p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cavity (AU)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T</a:t>
                          </a:r>
                          <a:r>
                            <a:rPr lang="en-US" sz="1200" baseline="-25000">
                              <a:effectLst/>
                            </a:rPr>
                            <a:t>rot</a:t>
                          </a:r>
                          <a:r>
                            <a:rPr lang="en-US" sz="1200">
                              <a:effectLst/>
                            </a:rPr>
                            <a:t> (K)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1200">
                                      <a:effectLst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200">
                                      <a:effectLst/>
                                    </a:rPr>
                                    <m:t>𝐥𝐨𝐠</m:t>
                                  </m:r>
                                </m:fName>
                                <m:e>
                                  <m:r>
                                    <a:rPr lang="en-US" sz="1200">
                                      <a:effectLst/>
                                    </a:rPr>
                                    <m:t>𝑵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200" dirty="0">
                              <a:effectLst/>
                            </a:rPr>
                            <a:t> (cm</a:t>
                          </a:r>
                          <a:r>
                            <a:rPr lang="en-US" sz="1200" baseline="30000" dirty="0">
                              <a:effectLst/>
                            </a:rPr>
                            <a:t>2</a:t>
                          </a:r>
                          <a:r>
                            <a:rPr lang="en-US" sz="1200" dirty="0">
                              <a:effectLst/>
                            </a:rPr>
                            <a:t>)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0110583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RU </a:t>
                          </a:r>
                          <a:r>
                            <a:rPr lang="en-US" sz="1200" dirty="0" err="1">
                              <a:effectLst/>
                            </a:rPr>
                            <a:t>Lup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0.55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1.45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-0.01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-0.53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1160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17.3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032513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AA Tau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-1.43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-0.36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765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7912464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DR Tau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0.93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0.63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-0.24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-0.34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987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9844285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HD 144432S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1.7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14.8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-0.35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-0.28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431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5638386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TW Cha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0.38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-1.66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-0.16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585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18.7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1187468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EX Lup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-0.14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1226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6283136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Do </a:t>
                          </a:r>
                          <a:r>
                            <a:rPr lang="en-US" sz="1200" dirty="0" err="1">
                              <a:effectLst/>
                            </a:rPr>
                            <a:t>Ar</a:t>
                          </a:r>
                          <a:r>
                            <a:rPr lang="en-US" sz="1200" dirty="0">
                              <a:effectLst/>
                            </a:rPr>
                            <a:t> 44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1.22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0.93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-0.73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850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16.7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8633333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HD 36112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1.56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0.82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671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02102026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TW Hya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0.61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0.23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-1.53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0.96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2.4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559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17.2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0688392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HD 142527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16.3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1.02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706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17.3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707735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5A4AA596-4C2D-6F23-AAE2-E5158608C07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07171434"/>
                  </p:ext>
                </p:extLst>
              </p:nvPr>
            </p:nvGraphicFramePr>
            <p:xfrm>
              <a:off x="1041730" y="1924352"/>
              <a:ext cx="10319969" cy="44196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36254">
                      <a:extLst>
                        <a:ext uri="{9D8B030D-6E8A-4147-A177-3AD203B41FA5}">
                          <a16:colId xmlns:a16="http://schemas.microsoft.com/office/drawing/2014/main" val="3780712506"/>
                        </a:ext>
                      </a:extLst>
                    </a:gridCol>
                    <a:gridCol w="1021280">
                      <a:extLst>
                        <a:ext uri="{9D8B030D-6E8A-4147-A177-3AD203B41FA5}">
                          <a16:colId xmlns:a16="http://schemas.microsoft.com/office/drawing/2014/main" val="2901699024"/>
                        </a:ext>
                      </a:extLst>
                    </a:gridCol>
                    <a:gridCol w="907804">
                      <a:extLst>
                        <a:ext uri="{9D8B030D-6E8A-4147-A177-3AD203B41FA5}">
                          <a16:colId xmlns:a16="http://schemas.microsoft.com/office/drawing/2014/main" val="3490994302"/>
                        </a:ext>
                      </a:extLst>
                    </a:gridCol>
                    <a:gridCol w="1248231">
                      <a:extLst>
                        <a:ext uri="{9D8B030D-6E8A-4147-A177-3AD203B41FA5}">
                          <a16:colId xmlns:a16="http://schemas.microsoft.com/office/drawing/2014/main" val="1376927861"/>
                        </a:ext>
                      </a:extLst>
                    </a:gridCol>
                    <a:gridCol w="1134755">
                      <a:extLst>
                        <a:ext uri="{9D8B030D-6E8A-4147-A177-3AD203B41FA5}">
                          <a16:colId xmlns:a16="http://schemas.microsoft.com/office/drawing/2014/main" val="4275544208"/>
                        </a:ext>
                      </a:extLst>
                    </a:gridCol>
                    <a:gridCol w="1815610">
                      <a:extLst>
                        <a:ext uri="{9D8B030D-6E8A-4147-A177-3AD203B41FA5}">
                          <a16:colId xmlns:a16="http://schemas.microsoft.com/office/drawing/2014/main" val="674533625"/>
                        </a:ext>
                      </a:extLst>
                    </a:gridCol>
                    <a:gridCol w="1021280">
                      <a:extLst>
                        <a:ext uri="{9D8B030D-6E8A-4147-A177-3AD203B41FA5}">
                          <a16:colId xmlns:a16="http://schemas.microsoft.com/office/drawing/2014/main" val="1383949315"/>
                        </a:ext>
                      </a:extLst>
                    </a:gridCol>
                    <a:gridCol w="1134755">
                      <a:extLst>
                        <a:ext uri="{9D8B030D-6E8A-4147-A177-3AD203B41FA5}">
                          <a16:colId xmlns:a16="http://schemas.microsoft.com/office/drawing/2014/main" val="4114833957"/>
                        </a:ext>
                      </a:extLst>
                    </a:gridCol>
                  </a:tblGrid>
                  <a:tr h="73660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Star Name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98765" t="-6897" r="-708642" b="-5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40845" t="-6897" r="-708451" b="-5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6162" t="-6897" r="-408081" b="-5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62921" t="-6897" r="-353933" b="-5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Dust</a:t>
                          </a:r>
                        </a:p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cavity (AU)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T</a:t>
                          </a:r>
                          <a:r>
                            <a:rPr lang="en-US" sz="1200" baseline="-25000">
                              <a:effectLst/>
                            </a:rPr>
                            <a:t>rot</a:t>
                          </a:r>
                          <a:r>
                            <a:rPr lang="en-US" sz="1200">
                              <a:effectLst/>
                            </a:rPr>
                            <a:t> (K)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814607" t="-6897" r="-2247" b="-5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110583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RU </a:t>
                          </a:r>
                          <a:r>
                            <a:rPr lang="en-US" sz="1200" dirty="0" err="1">
                              <a:effectLst/>
                            </a:rPr>
                            <a:t>Lup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0.55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1.45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-0.01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-0.53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1160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17.3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032513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AA Tau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-1.43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-0.36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765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7912464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DR Tau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0.93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0.63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-0.24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-0.34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987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9844285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HD 144432S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1.7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14.8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-0.35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-0.28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431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5638386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TW Cha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0.38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-1.66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-0.16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585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18.7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1187468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EX Lup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0.5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-0.14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1226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6283136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Do </a:t>
                          </a:r>
                          <a:r>
                            <a:rPr lang="en-US" sz="1200" dirty="0" err="1">
                              <a:effectLst/>
                            </a:rPr>
                            <a:t>Ar</a:t>
                          </a:r>
                          <a:r>
                            <a:rPr lang="en-US" sz="1200" dirty="0">
                              <a:effectLst/>
                            </a:rPr>
                            <a:t> 44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1.22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0.93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-0.73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34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850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16.7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8633333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HD 36112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1.56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-0.1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0.82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671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17.3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02102026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TW Hya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0.61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0.23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-1.53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0.96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2.4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559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17.2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0688392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HD 142527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16.3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0.8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1.02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120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706</a:t>
                          </a:r>
                          <a:endParaRPr lang="en-US" sz="120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17.3</a:t>
                          </a:r>
                          <a:endParaRPr lang="en-US" sz="120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707735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8B238-E011-2588-7498-60C27083E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A9A7D-BBE4-4AED-1C1C-BA595388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9</a:t>
            </a:fld>
            <a:endParaRPr lang="es-SV" noProof="0" dirty="0"/>
          </a:p>
        </p:txBody>
      </p:sp>
    </p:spTree>
    <p:extLst>
      <p:ext uri="{BB962C8B-B14F-4D97-AF65-F5344CB8AC3E}">
        <p14:creationId xmlns:p14="http://schemas.microsoft.com/office/powerpoint/2010/main" val="5313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AACB-C701-2CE1-BA83-1886DC89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57200"/>
            <a:ext cx="10963655" cy="971245"/>
          </a:xfrm>
        </p:spPr>
        <p:txBody>
          <a:bodyPr/>
          <a:lstStyle/>
          <a:p>
            <a:r>
              <a:rPr lang="es-SV" noProof="0" dirty="0"/>
              <a:t>Resultados de lte modelo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A25C4-24A4-E476-C4D8-BC48AFFE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A5A3C-3205-2E72-C713-EF8ED6DF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10</a:t>
            </a:fld>
            <a:endParaRPr lang="es-SV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781697-5FEB-690E-0AFF-BFA9B4B04982}"/>
              </a:ext>
            </a:extLst>
          </p:cNvPr>
          <p:cNvGrpSpPr>
            <a:grpSpLocks noChangeAspect="1"/>
          </p:cNvGrpSpPr>
          <p:nvPr/>
        </p:nvGrpSpPr>
        <p:grpSpPr>
          <a:xfrm>
            <a:off x="6118864" y="2320540"/>
            <a:ext cx="5773171" cy="3088647"/>
            <a:chOff x="1997053" y="487374"/>
            <a:chExt cx="4063789" cy="217412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3558D47-F74E-B107-DCC1-8B229B25A4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97053" y="487374"/>
              <a:ext cx="4063789" cy="2174127"/>
              <a:chOff x="121522" y="112683"/>
              <a:chExt cx="4088968" cy="218759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620750F-F3F4-1131-D4E1-BDFF5E293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522" y="112683"/>
                <a:ext cx="4088968" cy="2187598"/>
              </a:xfrm>
              <a:prstGeom prst="rect">
                <a:avLst/>
              </a:prstGeom>
            </p:spPr>
          </p:pic>
          <p:pic>
            <p:nvPicPr>
              <p:cNvPr id="10" name="fig - disk a.png" descr="fig - disk a.png">
                <a:extLst>
                  <a:ext uri="{FF2B5EF4-FFF2-40B4-BE49-F238E27FC236}">
                    <a16:creationId xmlns:a16="http://schemas.microsoft.com/office/drawing/2014/main" id="{8E591754-30D7-2489-3946-EEC0DC7355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3281" y="260092"/>
                <a:ext cx="868680" cy="515304"/>
              </a:xfrm>
              <a:prstGeom prst="ellipse">
                <a:avLst/>
              </a:prstGeom>
              <a:ln w="12700">
                <a:miter lim="400000"/>
              </a:ln>
            </p:spPr>
          </p:pic>
        </p:grpSp>
        <p:sp>
          <p:nvSpPr>
            <p:cNvPr id="8" name="Sun 7">
              <a:extLst>
                <a:ext uri="{FF2B5EF4-FFF2-40B4-BE49-F238E27FC236}">
                  <a16:creationId xmlns:a16="http://schemas.microsoft.com/office/drawing/2014/main" id="{55B0F532-DFE0-E4B2-C74E-0EFA1D1911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9882" y="811575"/>
              <a:ext cx="60842" cy="53728"/>
            </a:xfrm>
            <a:prstGeom prst="sun">
              <a:avLst>
                <a:gd name="adj" fmla="val 12500"/>
              </a:avLst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F70786-E459-715D-4A1E-CCAC8DE3EF0A}"/>
              </a:ext>
            </a:extLst>
          </p:cNvPr>
          <p:cNvGrpSpPr>
            <a:grpSpLocks noChangeAspect="1"/>
          </p:cNvGrpSpPr>
          <p:nvPr/>
        </p:nvGrpSpPr>
        <p:grpSpPr>
          <a:xfrm>
            <a:off x="163369" y="2341876"/>
            <a:ext cx="5873192" cy="3100812"/>
            <a:chOff x="6060842" y="488781"/>
            <a:chExt cx="4134195" cy="218269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457C14D-4A89-59A7-52FF-DCBB2FC168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60842" y="488781"/>
              <a:ext cx="4134195" cy="2182691"/>
              <a:chOff x="154825" y="4557721"/>
              <a:chExt cx="4088968" cy="2158813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D597CD6-73D2-5DD5-96C8-0D61F13A4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25" y="4557721"/>
                <a:ext cx="4088968" cy="2158813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2B4E1F1C-33FE-8F00-9078-594D25C7E3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8122" y="4695539"/>
                <a:ext cx="867594" cy="513529"/>
              </a:xfrm>
              <a:prstGeom prst="ellipse">
                <a:avLst/>
              </a:prstGeom>
            </p:spPr>
          </p:pic>
        </p:grpSp>
        <p:sp>
          <p:nvSpPr>
            <p:cNvPr id="13" name="Sun 12">
              <a:extLst>
                <a:ext uri="{FF2B5EF4-FFF2-40B4-BE49-F238E27FC236}">
                  <a16:creationId xmlns:a16="http://schemas.microsoft.com/office/drawing/2014/main" id="{8B3F269E-69FC-56BF-AD9A-30D561B97B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30042" y="811575"/>
              <a:ext cx="57472" cy="50752"/>
            </a:xfrm>
            <a:prstGeom prst="sun">
              <a:avLst>
                <a:gd name="adj" fmla="val 12500"/>
              </a:avLst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607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A31C-A7DF-BDFE-505E-EFD13DCB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noProof="0" dirty="0"/>
              <a:t>iSlat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6929-50DC-2DB9-03E0-789CD4C2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noProof="0" dirty="0"/>
              <a:t>Take Line </a:t>
            </a:r>
            <a:r>
              <a:rPr lang="es-SV" noProof="0" dirty="0" err="1"/>
              <a:t>measurements</a:t>
            </a:r>
            <a:r>
              <a:rPr lang="es-SV" noProof="0" dirty="0"/>
              <a:t> and </a:t>
            </a:r>
            <a:r>
              <a:rPr lang="es-SV" noProof="0" dirty="0" err="1"/>
              <a:t>fluxes</a:t>
            </a:r>
            <a:endParaRPr lang="es-SV" noProof="0" dirty="0"/>
          </a:p>
          <a:p>
            <a:r>
              <a:rPr lang="es-SV" noProof="0" dirty="0"/>
              <a:t>Error </a:t>
            </a:r>
            <a:r>
              <a:rPr lang="es-SV" noProof="0" dirty="0" err="1"/>
              <a:t>analysis</a:t>
            </a:r>
            <a:endParaRPr lang="es-SV" noProof="0" dirty="0"/>
          </a:p>
          <a:p>
            <a:r>
              <a:rPr lang="es-SV" noProof="0" dirty="0"/>
              <a:t>Chi2 </a:t>
            </a:r>
            <a:r>
              <a:rPr lang="es-SV" noProof="0" dirty="0" err="1"/>
              <a:t>minimization</a:t>
            </a:r>
            <a:r>
              <a:rPr lang="es-SV" noProof="0" dirty="0"/>
              <a:t> </a:t>
            </a:r>
            <a:r>
              <a:rPr lang="es-SV" noProof="0" dirty="0" err="1"/>
              <a:t>of</a:t>
            </a:r>
            <a:r>
              <a:rPr lang="es-SV" noProof="0" dirty="0"/>
              <a:t> line </a:t>
            </a:r>
            <a:r>
              <a:rPr lang="es-SV" noProof="0" dirty="0" err="1"/>
              <a:t>fitting</a:t>
            </a:r>
            <a:endParaRPr lang="es-SV" noProof="0" dirty="0"/>
          </a:p>
          <a:p>
            <a:r>
              <a:rPr lang="es-SV" noProof="0" dirty="0" err="1"/>
              <a:t>Efficacy</a:t>
            </a:r>
            <a:r>
              <a:rPr lang="es-SV" noProof="0" dirty="0"/>
              <a:t> </a:t>
            </a:r>
            <a:r>
              <a:rPr lang="es-SV" noProof="0" dirty="0" err="1"/>
              <a:t>of</a:t>
            </a:r>
            <a:r>
              <a:rPr lang="es-SV" noProof="0" dirty="0"/>
              <a:t> line </a:t>
            </a:r>
            <a:r>
              <a:rPr lang="es-SV" noProof="0" dirty="0" err="1"/>
              <a:t>selection</a:t>
            </a:r>
            <a:r>
              <a:rPr lang="es-SV" noProof="0" dirty="0"/>
              <a:t> </a:t>
            </a:r>
            <a:r>
              <a:rPr lang="es-SV" noProof="0" dirty="0" err="1"/>
              <a:t>for</a:t>
            </a:r>
            <a:r>
              <a:rPr lang="es-SV" noProof="0" dirty="0"/>
              <a:t> a </a:t>
            </a:r>
            <a:r>
              <a:rPr lang="es-SV" noProof="0" dirty="0" err="1"/>
              <a:t>given</a:t>
            </a:r>
            <a:r>
              <a:rPr lang="es-SV" noProof="0" dirty="0"/>
              <a:t> </a:t>
            </a:r>
            <a:r>
              <a:rPr lang="es-SV" noProof="0" dirty="0" err="1"/>
              <a:t>spectra</a:t>
            </a:r>
            <a:endParaRPr lang="es-SV" noProof="0" dirty="0"/>
          </a:p>
          <a:p>
            <a:pPr lvl="1"/>
            <a:r>
              <a:rPr lang="es-SV" noProof="0" dirty="0" err="1"/>
              <a:t>Interpolation</a:t>
            </a:r>
            <a:r>
              <a:rPr lang="es-SV" noProof="0" dirty="0"/>
              <a:t> vs </a:t>
            </a:r>
            <a:r>
              <a:rPr lang="es-SV" noProof="0" dirty="0" err="1"/>
              <a:t>ignoring</a:t>
            </a:r>
            <a:r>
              <a:rPr lang="es-SV" noProof="0" dirty="0"/>
              <a:t> a line</a:t>
            </a:r>
          </a:p>
          <a:p>
            <a:pPr lvl="1"/>
            <a:r>
              <a:rPr lang="es-SV" noProof="0" dirty="0"/>
              <a:t>Line </a:t>
            </a:r>
            <a:r>
              <a:rPr lang="es-SV" noProof="0" dirty="0" err="1"/>
              <a:t>absorption</a:t>
            </a:r>
            <a:r>
              <a:rPr lang="es-SV" noProof="0" dirty="0"/>
              <a:t> </a:t>
            </a:r>
            <a:r>
              <a:rPr lang="es-SV" noProof="0" dirty="0" err="1"/>
              <a:t>features</a:t>
            </a:r>
            <a:r>
              <a:rPr lang="es-SV" noProof="0" dirty="0"/>
              <a:t>: real v instrumental after </a:t>
            </a:r>
            <a:r>
              <a:rPr lang="es-SV" noProof="0" dirty="0" err="1"/>
              <a:t>calibration</a:t>
            </a:r>
            <a:endParaRPr lang="es-SV" noProof="0" dirty="0"/>
          </a:p>
          <a:p>
            <a:r>
              <a:rPr lang="es-SV" noProof="0" dirty="0" err="1"/>
              <a:t>Finally</a:t>
            </a:r>
            <a:r>
              <a:rPr lang="es-SV" noProof="0" dirty="0"/>
              <a:t> </a:t>
            </a:r>
            <a:r>
              <a:rPr lang="es-SV" noProof="0" dirty="0" err="1"/>
              <a:t>using</a:t>
            </a:r>
            <a:r>
              <a:rPr lang="es-SV" noProof="0" dirty="0"/>
              <a:t> </a:t>
            </a:r>
            <a:r>
              <a:rPr lang="es-SV" noProof="0" dirty="0" err="1"/>
              <a:t>those</a:t>
            </a:r>
            <a:r>
              <a:rPr lang="es-SV" noProof="0" dirty="0"/>
              <a:t> line </a:t>
            </a:r>
            <a:r>
              <a:rPr lang="es-SV" noProof="0" dirty="0" err="1"/>
              <a:t>fluxes</a:t>
            </a:r>
            <a:r>
              <a:rPr lang="es-SV" noProof="0" dirty="0"/>
              <a:t> + </a:t>
            </a:r>
            <a:r>
              <a:rPr lang="es-SV" noProof="0" dirty="0" err="1"/>
              <a:t>errors</a:t>
            </a:r>
            <a:r>
              <a:rPr lang="es-SV" noProof="0" dirty="0"/>
              <a:t> </a:t>
            </a:r>
            <a:r>
              <a:rPr lang="es-SV" noProof="0" dirty="0" err="1"/>
              <a:t>to</a:t>
            </a:r>
            <a:r>
              <a:rPr lang="es-SV" noProof="0" dirty="0"/>
              <a:t> </a:t>
            </a:r>
            <a:r>
              <a:rPr lang="es-SV" noProof="0" dirty="0" err="1"/>
              <a:t>create</a:t>
            </a:r>
            <a:r>
              <a:rPr lang="es-SV" noProof="0" dirty="0"/>
              <a:t> </a:t>
            </a:r>
            <a:r>
              <a:rPr lang="es-SV" noProof="0" dirty="0" err="1"/>
              <a:t>rotational</a:t>
            </a:r>
            <a:r>
              <a:rPr lang="es-SV" noProof="0" dirty="0"/>
              <a:t> </a:t>
            </a:r>
            <a:r>
              <a:rPr lang="es-SV" noProof="0" dirty="0" err="1"/>
              <a:t>diagram</a:t>
            </a:r>
            <a:r>
              <a:rPr lang="es-SV" noProof="0" dirty="0"/>
              <a:t> </a:t>
            </a:r>
            <a:r>
              <a:rPr lang="es-SV" noProof="0" dirty="0" err="1"/>
              <a:t>of</a:t>
            </a:r>
            <a:r>
              <a:rPr lang="es-SV" noProof="0" dirty="0"/>
              <a:t> line </a:t>
            </a:r>
            <a:r>
              <a:rPr lang="es-SV" noProof="0" dirty="0" err="1"/>
              <a:t>fluxes</a:t>
            </a:r>
            <a:endParaRPr lang="es-SV" noProof="0" dirty="0"/>
          </a:p>
          <a:p>
            <a:pPr lvl="1"/>
            <a:r>
              <a:rPr lang="es-SV" noProof="0" dirty="0" err="1"/>
              <a:t>Rotation</a:t>
            </a:r>
            <a:r>
              <a:rPr lang="es-SV" noProof="0" dirty="0"/>
              <a:t> </a:t>
            </a:r>
            <a:r>
              <a:rPr lang="es-SV" noProof="0" dirty="0" err="1"/>
              <a:t>diagram</a:t>
            </a:r>
            <a:r>
              <a:rPr lang="es-SV" noProof="0" dirty="0"/>
              <a:t> </a:t>
            </a:r>
            <a:r>
              <a:rPr lang="es-SV" noProof="0" dirty="0" err="1"/>
              <a:t>features</a:t>
            </a:r>
            <a:r>
              <a:rPr lang="es-SV" noProof="0" dirty="0"/>
              <a:t> and </a:t>
            </a:r>
            <a:r>
              <a:rPr lang="es-SV" noProof="0" dirty="0" err="1"/>
              <a:t>how</a:t>
            </a:r>
            <a:r>
              <a:rPr lang="es-SV" noProof="0" dirty="0"/>
              <a:t> </a:t>
            </a:r>
            <a:r>
              <a:rPr lang="es-SV" noProof="0" dirty="0" err="1"/>
              <a:t>they</a:t>
            </a:r>
            <a:r>
              <a:rPr lang="es-SV" noProof="0" dirty="0"/>
              <a:t> </a:t>
            </a:r>
            <a:r>
              <a:rPr lang="es-SV" noProof="0" dirty="0" err="1"/>
              <a:t>change</a:t>
            </a:r>
            <a:r>
              <a:rPr lang="es-SV" noProof="0" dirty="0"/>
              <a:t> w/ line </a:t>
            </a:r>
            <a:r>
              <a:rPr lang="es-SV" noProof="0" dirty="0" err="1"/>
              <a:t>opacity</a:t>
            </a:r>
            <a:r>
              <a:rPr lang="es-SV" noProof="0" dirty="0"/>
              <a:t>, </a:t>
            </a:r>
            <a:r>
              <a:rPr lang="es-SV" noProof="0" dirty="0" err="1"/>
              <a:t>temperatures</a:t>
            </a:r>
            <a:r>
              <a:rPr lang="es-SV" noProof="0" dirty="0"/>
              <a:t>, and </a:t>
            </a:r>
            <a:r>
              <a:rPr lang="es-SV" noProof="0" dirty="0" err="1"/>
              <a:t>how</a:t>
            </a:r>
            <a:r>
              <a:rPr lang="es-SV" noProof="0" dirty="0"/>
              <a:t> </a:t>
            </a:r>
            <a:r>
              <a:rPr lang="es-SV" noProof="0" dirty="0" err="1"/>
              <a:t>different</a:t>
            </a:r>
            <a:r>
              <a:rPr lang="es-SV" noProof="0" dirty="0"/>
              <a:t> </a:t>
            </a:r>
            <a:r>
              <a:rPr lang="es-SV" noProof="0" dirty="0" err="1"/>
              <a:t>spectra</a:t>
            </a:r>
            <a:r>
              <a:rPr lang="es-SV" noProof="0" dirty="0"/>
              <a:t> can </a:t>
            </a:r>
            <a:r>
              <a:rPr lang="es-SV" noProof="0" dirty="0" err="1"/>
              <a:t>yield</a:t>
            </a:r>
            <a:r>
              <a:rPr lang="es-SV" noProof="0" dirty="0"/>
              <a:t> similar line </a:t>
            </a:r>
            <a:r>
              <a:rPr lang="es-SV" noProof="0" dirty="0" err="1"/>
              <a:t>fluxes</a:t>
            </a:r>
            <a:r>
              <a:rPr lang="es-SV" noProof="0" dirty="0"/>
              <a:t> </a:t>
            </a:r>
            <a:r>
              <a:rPr lang="es-SV" noProof="0" dirty="0" err="1"/>
              <a:t>but</a:t>
            </a:r>
            <a:r>
              <a:rPr lang="es-SV" noProof="0" dirty="0"/>
              <a:t> </a:t>
            </a:r>
            <a:r>
              <a:rPr lang="es-SV" noProof="0" dirty="0" err="1"/>
              <a:t>correspond</a:t>
            </a:r>
            <a:r>
              <a:rPr lang="es-SV" noProof="0" dirty="0"/>
              <a:t> </a:t>
            </a:r>
            <a:r>
              <a:rPr lang="es-SV" noProof="0" dirty="0" err="1"/>
              <a:t>to</a:t>
            </a:r>
            <a:r>
              <a:rPr lang="es-SV" noProof="0" dirty="0"/>
              <a:t> </a:t>
            </a:r>
            <a:r>
              <a:rPr lang="es-SV" noProof="0" dirty="0" err="1"/>
              <a:t>vastly</a:t>
            </a:r>
            <a:r>
              <a:rPr lang="es-SV" noProof="0" dirty="0"/>
              <a:t> </a:t>
            </a:r>
            <a:r>
              <a:rPr lang="es-SV" noProof="0" dirty="0" err="1"/>
              <a:t>different</a:t>
            </a:r>
            <a:r>
              <a:rPr lang="es-SV" noProof="0" dirty="0"/>
              <a:t> </a:t>
            </a:r>
            <a:r>
              <a:rPr lang="es-SV" noProof="0" dirty="0" err="1"/>
              <a:t>conditions</a:t>
            </a:r>
            <a:endParaRPr lang="es-SV" noProof="0" dirty="0"/>
          </a:p>
          <a:p>
            <a:r>
              <a:rPr lang="es-SV" noProof="0" dirty="0"/>
              <a:t>Group </a:t>
            </a:r>
            <a:r>
              <a:rPr lang="es-SV" noProof="0" dirty="0" err="1"/>
              <a:t>Discussion</a:t>
            </a:r>
            <a:r>
              <a:rPr lang="es-SV" noProof="0" dirty="0"/>
              <a:t> </a:t>
            </a:r>
            <a:r>
              <a:rPr lang="es-SV" noProof="0" dirty="0" err="1"/>
              <a:t>of</a:t>
            </a:r>
            <a:r>
              <a:rPr lang="es-SV" noProof="0" dirty="0"/>
              <a:t> </a:t>
            </a:r>
            <a:r>
              <a:rPr lang="es-SV" noProof="0" dirty="0" err="1"/>
              <a:t>the</a:t>
            </a:r>
            <a:r>
              <a:rPr lang="es-SV" noProof="0" dirty="0"/>
              <a:t> </a:t>
            </a:r>
            <a:r>
              <a:rPr lang="es-SV" noProof="0" dirty="0" err="1"/>
              <a:t>model</a:t>
            </a:r>
            <a:r>
              <a:rPr lang="es-SV" noProof="0" dirty="0"/>
              <a:t> </a:t>
            </a:r>
            <a:r>
              <a:rPr lang="es-SV" noProof="0" dirty="0" err="1"/>
              <a:t>created</a:t>
            </a:r>
            <a:endParaRPr lang="es-SV" noProof="0" dirty="0"/>
          </a:p>
          <a:p>
            <a:endParaRPr lang="es-SV" noProof="0" dirty="0"/>
          </a:p>
          <a:p>
            <a:endParaRPr lang="es-SV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CAB64-67C9-18EA-9726-C1244BBD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D293E-A411-738F-4A5C-76E9D7E1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11</a:t>
            </a:fld>
            <a:endParaRPr lang="es-SV" noProof="0" dirty="0"/>
          </a:p>
        </p:txBody>
      </p:sp>
    </p:spTree>
    <p:extLst>
      <p:ext uri="{BB962C8B-B14F-4D97-AF65-F5344CB8AC3E}">
        <p14:creationId xmlns:p14="http://schemas.microsoft.com/office/powerpoint/2010/main" val="64261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E6B4-6400-CE39-B113-DC43A6FC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2D08-141D-8FDC-15F3-26D2F111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57200"/>
            <a:ext cx="10963655" cy="971245"/>
          </a:xfrm>
        </p:spPr>
        <p:txBody>
          <a:bodyPr/>
          <a:lstStyle/>
          <a:p>
            <a:r>
              <a:rPr lang="es-ES_tradnl" noProof="0" dirty="0" err="1"/>
              <a:t>islat</a:t>
            </a:r>
            <a:r>
              <a:rPr lang="es-ES_tradnl" noProof="0" dirty="0"/>
              <a:t> programa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30A3-EBC4-20AA-1136-580CB99D7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00200"/>
            <a:ext cx="10963656" cy="4572000"/>
          </a:xfrm>
        </p:spPr>
        <p:txBody>
          <a:bodyPr/>
          <a:lstStyle/>
          <a:p>
            <a:r>
              <a:rPr lang="es-ES_tradnl" sz="2000" noProof="0" dirty="0" err="1"/>
              <a:t>Espectra</a:t>
            </a:r>
            <a:r>
              <a:rPr lang="es-ES_tradnl" sz="2000" noProof="0" dirty="0"/>
              <a:t> LTE – </a:t>
            </a:r>
            <a:r>
              <a:rPr lang="es-ES_tradnl" sz="2000" noProof="0" dirty="0" err="1"/>
              <a:t>iSLAT</a:t>
            </a:r>
            <a:r>
              <a:rPr lang="es-ES_tradnl" sz="2000" noProof="0" dirty="0"/>
              <a:t> Programa (bajar es opcional)</a:t>
            </a:r>
          </a:p>
          <a:p>
            <a:r>
              <a:rPr lang="es-ES_tradnl" sz="2000" noProof="0" dirty="0">
                <a:hlinkClick r:id="rId3"/>
              </a:rPr>
              <a:t>https://github.com/spexod/iSLAT</a:t>
            </a:r>
            <a:endParaRPr lang="es-ES_tradnl" sz="2000" noProof="0" dirty="0"/>
          </a:p>
          <a:p>
            <a:r>
              <a:rPr lang="es-ES_tradnl" sz="2000" noProof="0" dirty="0"/>
              <a:t>Necesitan Python3 y pip3 (lo mínimo)</a:t>
            </a:r>
          </a:p>
          <a:p>
            <a:r>
              <a:rPr lang="es-ES_tradnl" sz="2000" noProof="0" dirty="0"/>
              <a:t>En tu terminal de computadora:</a:t>
            </a:r>
          </a:p>
          <a:p>
            <a:r>
              <a:rPr lang="es-ES_tradnl" sz="2000" dirty="0">
                <a:latin typeface="GulimChe" panose="020B0609000101010101" pitchFamily="49" charset="-127"/>
                <a:ea typeface="GulimChe" panose="020B0609000101010101" pitchFamily="49" charset="-127"/>
              </a:rPr>
              <a:t>&gt;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mkdir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science</a:t>
            </a:r>
            <a:endParaRPr lang="es-ES_tradnl" sz="2000" noProof="0" dirty="0">
              <a:latin typeface="GulimChe" panose="020B0609000101010101" pitchFamily="49" charset="-127"/>
              <a:ea typeface="GulimChe" panose="020B0609000101010101" pitchFamily="49" charset="-127"/>
            </a:endParaRPr>
          </a:p>
          <a:p>
            <a:r>
              <a:rPr lang="es-ES_tradnl" sz="2000" dirty="0">
                <a:latin typeface="GulimChe" panose="020B0609000101010101" pitchFamily="49" charset="-127"/>
                <a:ea typeface="GulimChe" panose="020B0609000101010101" pitchFamily="49" charset="-127"/>
              </a:rPr>
              <a:t>&gt; 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cd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science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/</a:t>
            </a:r>
          </a:p>
          <a:p>
            <a:r>
              <a:rPr lang="es-ES_tradnl" sz="2000" dirty="0">
                <a:latin typeface="GulimChe" panose="020B0609000101010101" pitchFamily="49" charset="-127"/>
                <a:ea typeface="GulimChe" panose="020B0609000101010101" pitchFamily="49" charset="-127"/>
              </a:rPr>
              <a:t>&gt;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git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 clone 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  <a:hlinkClick r:id="rId3"/>
              </a:rPr>
              <a:t>https://github.com/spexod/iSLAT</a:t>
            </a:r>
            <a:endParaRPr lang="es-ES_tradnl" sz="2000" noProof="0" dirty="0">
              <a:latin typeface="GulimChe" panose="020B0609000101010101" pitchFamily="49" charset="-127"/>
              <a:ea typeface="GulimChe" panose="020B0609000101010101" pitchFamily="49" charset="-127"/>
            </a:endParaRPr>
          </a:p>
          <a:p>
            <a:r>
              <a:rPr lang="es-ES_tradnl" sz="2000" dirty="0">
                <a:latin typeface="GulimChe" panose="020B0609000101010101" pitchFamily="49" charset="-127"/>
                <a:ea typeface="GulimChe" panose="020B0609000101010101" pitchFamily="49" charset="-127"/>
              </a:rPr>
              <a:t>&gt; 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cd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iSLAT</a:t>
            </a:r>
            <a:endParaRPr lang="es-ES_tradnl" sz="2000" noProof="0" dirty="0">
              <a:latin typeface="GulimChe" panose="020B0609000101010101" pitchFamily="49" charset="-127"/>
              <a:ea typeface="GulimChe" panose="020B0609000101010101" pitchFamily="49" charset="-127"/>
            </a:endParaRPr>
          </a:p>
          <a:p>
            <a:r>
              <a:rPr lang="es-ES_tradnl" sz="2000" dirty="0">
                <a:latin typeface="GulimChe" panose="020B0609000101010101" pitchFamily="49" charset="-127"/>
                <a:ea typeface="GulimChe" panose="020B0609000101010101" pitchFamily="49" charset="-127"/>
              </a:rPr>
              <a:t>&gt; 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pip3.14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install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 –r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requirements.txt</a:t>
            </a:r>
            <a:endParaRPr lang="es-ES_tradnl" sz="2000" noProof="0" dirty="0">
              <a:latin typeface="GulimChe" panose="020B0609000101010101" pitchFamily="49" charset="-127"/>
              <a:ea typeface="GulimChe" panose="020B0609000101010101" pitchFamily="49" charset="-127"/>
            </a:endParaRPr>
          </a:p>
          <a:p>
            <a:r>
              <a:rPr lang="es-ES_tradnl" sz="2000" dirty="0">
                <a:latin typeface="GulimChe" panose="020B0609000101010101" pitchFamily="49" charset="-127"/>
                <a:ea typeface="GulimChe" panose="020B0609000101010101" pitchFamily="49" charset="-127"/>
              </a:rPr>
              <a:t>&gt; </a:t>
            </a:r>
            <a:r>
              <a:rPr lang="es-ES_tradnl" sz="2000" noProof="0" dirty="0">
                <a:latin typeface="GulimChe" panose="020B0609000101010101" pitchFamily="49" charset="-127"/>
                <a:ea typeface="GulimChe" panose="020B0609000101010101" pitchFamily="49" charset="-127"/>
              </a:rPr>
              <a:t>python3.14 </a:t>
            </a:r>
            <a:r>
              <a:rPr lang="es-ES_tradnl" sz="2000" noProof="0" dirty="0" err="1">
                <a:latin typeface="GulimChe" panose="020B0609000101010101" pitchFamily="49" charset="-127"/>
                <a:ea typeface="GulimChe" panose="020B0609000101010101" pitchFamily="49" charset="-127"/>
              </a:rPr>
              <a:t>iSLAT-launch.py</a:t>
            </a:r>
            <a:endParaRPr lang="es-ES_tradnl" sz="2000" noProof="0" dirty="0">
              <a:latin typeface="GulimChe" panose="020B0609000101010101" pitchFamily="49" charset="-127"/>
              <a:ea typeface="GulimChe" panose="020B0609000101010101" pitchFamily="49" charset="-127"/>
            </a:endParaRPr>
          </a:p>
          <a:p>
            <a:endParaRPr lang="es-ES_tradnl" sz="2000" noProof="0" dirty="0"/>
          </a:p>
          <a:p>
            <a:endParaRPr lang="es-ES_tradnl" noProof="0" dirty="0"/>
          </a:p>
          <a:p>
            <a:endParaRPr lang="es-ES_tradnl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CC99A-8BAF-43E3-C321-3D3714C2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17E88-6855-A25D-9EF1-27219BB8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12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095280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FF24-2395-22CC-83AC-46ED8D48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noProof="0" dirty="0"/>
              <a:t>socials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1727F-4FCC-6C6F-8124-DBC137136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sz="2000" noProof="0" dirty="0"/>
              <a:t>Linkedin</a:t>
            </a:r>
          </a:p>
          <a:p>
            <a:r>
              <a:rPr lang="es-SV" sz="2000" dirty="0">
                <a:hlinkClick r:id="rId2"/>
              </a:rPr>
              <a:t>https://www.linkedin.com/in/michael-s%C3%A1nchez-astronomer2002/</a:t>
            </a:r>
            <a:endParaRPr lang="es-SV" sz="2000" dirty="0"/>
          </a:p>
          <a:p>
            <a:endParaRPr lang="es-SV" sz="20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7C75B-04D1-32BA-0BDC-98B25002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SV" noProof="0" dirty="0" err="1"/>
              <a:t>InspiraSTEM</a:t>
            </a:r>
            <a:r>
              <a:rPr lang="es-SV" noProof="0" dirty="0"/>
              <a:t>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CE098-E83D-8E41-4992-2F73EC07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SV" noProof="0" smtClean="0"/>
              <a:t>13</a:t>
            </a:fld>
            <a:endParaRPr lang="es-SV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211E3-F5DC-E30B-1467-529CA7477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9" y="2895600"/>
            <a:ext cx="4521758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1641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{B9C844BF-C53A-4256-B6E3-5085CB166BA4}0f45c1b8-b519-4737-8f12-a18148944ef7-TFfcaeb239-e0ad-43c4-9739-4084ddd7c62fe496f549_win32</Template>
  <TotalTime>5240</TotalTime>
  <Words>578</Words>
  <Application>Microsoft Macintosh PowerPoint</Application>
  <PresentationFormat>Widescreen</PresentationFormat>
  <Paragraphs>179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GulimChe</vt:lpstr>
      <vt:lpstr>Aptos</vt:lpstr>
      <vt:lpstr>Arial</vt:lpstr>
      <vt:lpstr>Bahnschrift SemiLight</vt:lpstr>
      <vt:lpstr>Calibri</vt:lpstr>
      <vt:lpstr>Cambria Math</vt:lpstr>
      <vt:lpstr>Univers</vt:lpstr>
      <vt:lpstr>Blockwork elegance</vt:lpstr>
      <vt:lpstr>Planetas en Construcción: Un Viaje a Través de  Espectra molecular Dia 3</vt:lpstr>
      <vt:lpstr>Modelo lte</vt:lpstr>
      <vt:lpstr>Modelo lte</vt:lpstr>
      <vt:lpstr>Modelo lte</vt:lpstr>
      <vt:lpstr>Modelo lte</vt:lpstr>
      <vt:lpstr>Diagrama de rotacion</vt:lpstr>
      <vt:lpstr>Diagrama de rotacion</vt:lpstr>
      <vt:lpstr>Diagrama de rotacion</vt:lpstr>
      <vt:lpstr>Resultados de lte modelo estaban cerca?</vt:lpstr>
      <vt:lpstr>Resultados de lte modelo</vt:lpstr>
      <vt:lpstr>iSlat</vt:lpstr>
      <vt:lpstr>islat programa demo</vt:lpstr>
      <vt:lpstr>socials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Sanchez</dc:creator>
  <cp:lastModifiedBy>Michael Sanchez</cp:lastModifiedBy>
  <cp:revision>36</cp:revision>
  <dcterms:created xsi:type="dcterms:W3CDTF">2026-09-11T00:44:40Z</dcterms:created>
  <dcterms:modified xsi:type="dcterms:W3CDTF">2026-09-21T20:45:54Z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