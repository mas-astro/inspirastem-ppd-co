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13" r:id="rId4"/>
  </p:sldMasterIdLst>
  <p:notesMasterIdLst>
    <p:notesMasterId r:id="rId16"/>
  </p:notesMasterIdLst>
  <p:handoutMasterIdLst>
    <p:handoutMasterId r:id="rId17"/>
  </p:handoutMasterIdLst>
  <p:sldIdLst>
    <p:sldId id="258" r:id="rId5"/>
    <p:sldId id="272" r:id="rId6"/>
    <p:sldId id="276" r:id="rId7"/>
    <p:sldId id="269" r:id="rId8"/>
    <p:sldId id="273" r:id="rId9"/>
    <p:sldId id="277" r:id="rId10"/>
    <p:sldId id="274" r:id="rId11"/>
    <p:sldId id="280" r:id="rId12"/>
    <p:sldId id="281" r:id="rId13"/>
    <p:sldId id="275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3" autoAdjust="0"/>
    <p:restoredTop sz="78767" autoAdjust="0"/>
  </p:normalViewPr>
  <p:slideViewPr>
    <p:cSldViewPr showGuides="1">
      <p:cViewPr varScale="1">
        <p:scale>
          <a:sx n="99" d="100"/>
          <a:sy n="99" d="100"/>
        </p:scale>
        <p:origin x="150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0330EB-8EE9-6F4B-ACB3-DA28A9D5CDCB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3345CB5B-0D44-F44F-8594-2E85BC60186E}">
      <dgm:prSet phldrT="[Text]"/>
      <dgm:spPr/>
      <dgm:t>
        <a:bodyPr/>
        <a:lstStyle/>
        <a:p>
          <a:r>
            <a:rPr lang="es-ES_tradnl" noProof="0" dirty="0"/>
            <a:t>Identificación de líneas de emisión </a:t>
          </a:r>
        </a:p>
      </dgm:t>
    </dgm:pt>
    <dgm:pt modelId="{972CDDA2-9E8F-BB44-8576-CDF07AD6A992}" type="parTrans" cxnId="{2FBCD29C-8112-2649-8525-75B48DEE3BAC}">
      <dgm:prSet/>
      <dgm:spPr/>
      <dgm:t>
        <a:bodyPr/>
        <a:lstStyle/>
        <a:p>
          <a:endParaRPr lang="en-US"/>
        </a:p>
      </dgm:t>
    </dgm:pt>
    <dgm:pt modelId="{3F554A89-7CC3-0D47-846E-51BD42F4E82D}" type="sibTrans" cxnId="{2FBCD29C-8112-2649-8525-75B48DEE3BAC}">
      <dgm:prSet/>
      <dgm:spPr/>
      <dgm:t>
        <a:bodyPr/>
        <a:lstStyle/>
        <a:p>
          <a:endParaRPr lang="es-ES_tradnl" noProof="0" dirty="0"/>
        </a:p>
      </dgm:t>
    </dgm:pt>
    <dgm:pt modelId="{2DC7C84D-A04F-F74F-ABCA-56A12D0F2193}">
      <dgm:prSet/>
      <dgm:spPr/>
      <dgm:t>
        <a:bodyPr/>
        <a:lstStyle/>
        <a:p>
          <a:pPr rtl="0"/>
          <a:r>
            <a:rPr lang="es-ES_tradnl" noProof="0" dirty="0"/>
            <a:t>Ajusta la línea identificada con un perfil de línea apilado y escalado</a:t>
          </a:r>
        </a:p>
      </dgm:t>
    </dgm:pt>
    <dgm:pt modelId="{83584997-631A-624B-92D0-0702CED77B34}" type="parTrans" cxnId="{32815492-38E2-8F4A-94D6-0326B8FC35D4}">
      <dgm:prSet/>
      <dgm:spPr/>
      <dgm:t>
        <a:bodyPr/>
        <a:lstStyle/>
        <a:p>
          <a:endParaRPr lang="en-US"/>
        </a:p>
      </dgm:t>
    </dgm:pt>
    <dgm:pt modelId="{EA10DDAA-07DB-A544-A64F-2B3E6489611E}" type="sibTrans" cxnId="{32815492-38E2-8F4A-94D6-0326B8FC35D4}">
      <dgm:prSet/>
      <dgm:spPr/>
      <dgm:t>
        <a:bodyPr/>
        <a:lstStyle/>
        <a:p>
          <a:endParaRPr lang="es-ES_tradnl" noProof="0" dirty="0"/>
        </a:p>
      </dgm:t>
    </dgm:pt>
    <dgm:pt modelId="{BBD06C90-B61E-4B4F-8BF9-1DC5C3FE7BA1}">
      <dgm:prSet/>
      <dgm:spPr/>
      <dgm:t>
        <a:bodyPr/>
        <a:lstStyle/>
        <a:p>
          <a:pPr rtl="0"/>
          <a:r>
            <a:rPr lang="es-ES_tradnl" noProof="0" dirty="0"/>
            <a:t>Ajuste del continuo mediante la sustracción de un polinomio de primer orden del continuo de tu línea</a:t>
          </a:r>
        </a:p>
      </dgm:t>
    </dgm:pt>
    <dgm:pt modelId="{67C9ACD4-1962-C94D-B739-0036F8E200F4}" type="parTrans" cxnId="{C08A7EB5-12A7-4545-B2EA-D6EE0C0D55AC}">
      <dgm:prSet/>
      <dgm:spPr/>
      <dgm:t>
        <a:bodyPr/>
        <a:lstStyle/>
        <a:p>
          <a:endParaRPr lang="en-US"/>
        </a:p>
      </dgm:t>
    </dgm:pt>
    <dgm:pt modelId="{90EC15F6-B3E8-E54B-86A8-1338C4188EF9}" type="sibTrans" cxnId="{C08A7EB5-12A7-4545-B2EA-D6EE0C0D55AC}">
      <dgm:prSet/>
      <dgm:spPr/>
      <dgm:t>
        <a:bodyPr/>
        <a:lstStyle/>
        <a:p>
          <a:endParaRPr lang="es-ES_tradnl" noProof="0" dirty="0"/>
        </a:p>
      </dgm:t>
    </dgm:pt>
    <dgm:pt modelId="{DE3B20E7-1DD8-1240-8E68-6B501B1338A3}">
      <dgm:prSet/>
      <dgm:spPr/>
      <dgm:t>
        <a:bodyPr/>
        <a:lstStyle/>
        <a:p>
          <a:pPr rtl="0"/>
          <a:r>
            <a:rPr lang="es-ES_tradnl" noProof="0" dirty="0"/>
            <a:t>Cálculo del flujo de la línea entre el perfil de línea apilado y el piso del continuo.</a:t>
          </a:r>
        </a:p>
      </dgm:t>
    </dgm:pt>
    <dgm:pt modelId="{551C2752-BBCE-3C4F-A5E1-E17112545180}" type="parTrans" cxnId="{32749E90-A09B-A142-B1B9-739F3DEF6733}">
      <dgm:prSet/>
      <dgm:spPr/>
      <dgm:t>
        <a:bodyPr/>
        <a:lstStyle/>
        <a:p>
          <a:endParaRPr lang="en-US"/>
        </a:p>
      </dgm:t>
    </dgm:pt>
    <dgm:pt modelId="{D4709055-3898-5748-B70F-8D218CA187EC}" type="sibTrans" cxnId="{32749E90-A09B-A142-B1B9-739F3DEF6733}">
      <dgm:prSet/>
      <dgm:spPr/>
      <dgm:t>
        <a:bodyPr/>
        <a:lstStyle/>
        <a:p>
          <a:endParaRPr lang="en-US"/>
        </a:p>
      </dgm:t>
    </dgm:pt>
    <dgm:pt modelId="{0E0D94EA-BBA0-8845-A572-F836194A9141}" type="pres">
      <dgm:prSet presAssocID="{B70330EB-8EE9-6F4B-ACB3-DA28A9D5CDCB}" presName="linearFlow" presStyleCnt="0">
        <dgm:presLayoutVars>
          <dgm:resizeHandles val="exact"/>
        </dgm:presLayoutVars>
      </dgm:prSet>
      <dgm:spPr/>
    </dgm:pt>
    <dgm:pt modelId="{354B3DA5-9001-FE4B-BD5C-FEFF7374C9F3}" type="pres">
      <dgm:prSet presAssocID="{3345CB5B-0D44-F44F-8594-2E85BC60186E}" presName="node" presStyleLbl="node1" presStyleIdx="0" presStyleCnt="4" custScaleX="221571" custLinFactNeighborX="-950" custLinFactNeighborY="-94803">
        <dgm:presLayoutVars>
          <dgm:bulletEnabled val="1"/>
        </dgm:presLayoutVars>
      </dgm:prSet>
      <dgm:spPr/>
    </dgm:pt>
    <dgm:pt modelId="{3FA1F1CB-645F-D440-88D4-570F61DC378A}" type="pres">
      <dgm:prSet presAssocID="{3F554A89-7CC3-0D47-846E-51BD42F4E82D}" presName="sibTrans" presStyleLbl="sibTrans2D1" presStyleIdx="0" presStyleCnt="3"/>
      <dgm:spPr/>
    </dgm:pt>
    <dgm:pt modelId="{1D3E456D-DCC3-6B48-BA20-F313ABDA230B}" type="pres">
      <dgm:prSet presAssocID="{3F554A89-7CC3-0D47-846E-51BD42F4E82D}" presName="connectorText" presStyleLbl="sibTrans2D1" presStyleIdx="0" presStyleCnt="3"/>
      <dgm:spPr/>
    </dgm:pt>
    <dgm:pt modelId="{F5FA2B04-EB1B-C049-AF69-C5A6A85D2FC1}" type="pres">
      <dgm:prSet presAssocID="{BBD06C90-B61E-4B4F-8BF9-1DC5C3FE7BA1}" presName="node" presStyleLbl="node1" presStyleIdx="1" presStyleCnt="4" custScaleX="221571">
        <dgm:presLayoutVars>
          <dgm:bulletEnabled val="1"/>
        </dgm:presLayoutVars>
      </dgm:prSet>
      <dgm:spPr/>
    </dgm:pt>
    <dgm:pt modelId="{42EA484B-3E6B-A24C-A692-E5136733A3F7}" type="pres">
      <dgm:prSet presAssocID="{90EC15F6-B3E8-E54B-86A8-1338C4188EF9}" presName="sibTrans" presStyleLbl="sibTrans2D1" presStyleIdx="1" presStyleCnt="3"/>
      <dgm:spPr/>
    </dgm:pt>
    <dgm:pt modelId="{61DD9512-937E-F645-8226-6F4AC0C6A81D}" type="pres">
      <dgm:prSet presAssocID="{90EC15F6-B3E8-E54B-86A8-1338C4188EF9}" presName="connectorText" presStyleLbl="sibTrans2D1" presStyleIdx="1" presStyleCnt="3"/>
      <dgm:spPr/>
    </dgm:pt>
    <dgm:pt modelId="{16924EA3-C7C5-9549-A1E6-F29B53D3559E}" type="pres">
      <dgm:prSet presAssocID="{2DC7C84D-A04F-F74F-ABCA-56A12D0F2193}" presName="node" presStyleLbl="node1" presStyleIdx="2" presStyleCnt="4" custScaleX="221571">
        <dgm:presLayoutVars>
          <dgm:bulletEnabled val="1"/>
        </dgm:presLayoutVars>
      </dgm:prSet>
      <dgm:spPr/>
    </dgm:pt>
    <dgm:pt modelId="{DADA9762-D196-064A-AB81-CE57C717EA00}" type="pres">
      <dgm:prSet presAssocID="{EA10DDAA-07DB-A544-A64F-2B3E6489611E}" presName="sibTrans" presStyleLbl="sibTrans2D1" presStyleIdx="2" presStyleCnt="3"/>
      <dgm:spPr/>
    </dgm:pt>
    <dgm:pt modelId="{55197CC6-541A-8343-AA9C-FE749A7F2A05}" type="pres">
      <dgm:prSet presAssocID="{EA10DDAA-07DB-A544-A64F-2B3E6489611E}" presName="connectorText" presStyleLbl="sibTrans2D1" presStyleIdx="2" presStyleCnt="3"/>
      <dgm:spPr/>
    </dgm:pt>
    <dgm:pt modelId="{FC2444D8-974B-4D47-AA5E-D0FE4AE86DBC}" type="pres">
      <dgm:prSet presAssocID="{DE3B20E7-1DD8-1240-8E68-6B501B1338A3}" presName="node" presStyleLbl="node1" presStyleIdx="3" presStyleCnt="4" custScaleX="221571">
        <dgm:presLayoutVars>
          <dgm:bulletEnabled val="1"/>
        </dgm:presLayoutVars>
      </dgm:prSet>
      <dgm:spPr/>
    </dgm:pt>
  </dgm:ptLst>
  <dgm:cxnLst>
    <dgm:cxn modelId="{4652201B-3D4F-664F-985D-822A771FC555}" type="presOf" srcId="{B70330EB-8EE9-6F4B-ACB3-DA28A9D5CDCB}" destId="{0E0D94EA-BBA0-8845-A572-F836194A9141}" srcOrd="0" destOrd="0" presId="urn:microsoft.com/office/officeart/2005/8/layout/process2"/>
    <dgm:cxn modelId="{549BC61F-12C1-1740-AB02-7A81FE146ED5}" type="presOf" srcId="{EA10DDAA-07DB-A544-A64F-2B3E6489611E}" destId="{DADA9762-D196-064A-AB81-CE57C717EA00}" srcOrd="0" destOrd="0" presId="urn:microsoft.com/office/officeart/2005/8/layout/process2"/>
    <dgm:cxn modelId="{3B101824-A7D8-8D45-AFCC-2DB63F8A13BA}" type="presOf" srcId="{90EC15F6-B3E8-E54B-86A8-1338C4188EF9}" destId="{61DD9512-937E-F645-8226-6F4AC0C6A81D}" srcOrd="1" destOrd="0" presId="urn:microsoft.com/office/officeart/2005/8/layout/process2"/>
    <dgm:cxn modelId="{657CB22D-0668-DA45-A5A5-5E1B27FEFA54}" type="presOf" srcId="{BBD06C90-B61E-4B4F-8BF9-1DC5C3FE7BA1}" destId="{F5FA2B04-EB1B-C049-AF69-C5A6A85D2FC1}" srcOrd="0" destOrd="0" presId="urn:microsoft.com/office/officeart/2005/8/layout/process2"/>
    <dgm:cxn modelId="{9409F42E-63D2-3947-9DBF-EBD9740FCF65}" type="presOf" srcId="{EA10DDAA-07DB-A544-A64F-2B3E6489611E}" destId="{55197CC6-541A-8343-AA9C-FE749A7F2A05}" srcOrd="1" destOrd="0" presId="urn:microsoft.com/office/officeart/2005/8/layout/process2"/>
    <dgm:cxn modelId="{F670C53B-1FE4-8743-99D0-D89BFC42F6F5}" type="presOf" srcId="{90EC15F6-B3E8-E54B-86A8-1338C4188EF9}" destId="{42EA484B-3E6B-A24C-A692-E5136733A3F7}" srcOrd="0" destOrd="0" presId="urn:microsoft.com/office/officeart/2005/8/layout/process2"/>
    <dgm:cxn modelId="{3CF6E144-72E7-B548-942A-C02FF4A01456}" type="presOf" srcId="{3345CB5B-0D44-F44F-8594-2E85BC60186E}" destId="{354B3DA5-9001-FE4B-BD5C-FEFF7374C9F3}" srcOrd="0" destOrd="0" presId="urn:microsoft.com/office/officeart/2005/8/layout/process2"/>
    <dgm:cxn modelId="{460A3F6A-C186-C645-B8AC-86299B8F0D50}" type="presOf" srcId="{3F554A89-7CC3-0D47-846E-51BD42F4E82D}" destId="{3FA1F1CB-645F-D440-88D4-570F61DC378A}" srcOrd="0" destOrd="0" presId="urn:microsoft.com/office/officeart/2005/8/layout/process2"/>
    <dgm:cxn modelId="{1C2DEC7B-88E6-164D-9BE4-20FEFCB8DAF3}" type="presOf" srcId="{3F554A89-7CC3-0D47-846E-51BD42F4E82D}" destId="{1D3E456D-DCC3-6B48-BA20-F313ABDA230B}" srcOrd="1" destOrd="0" presId="urn:microsoft.com/office/officeart/2005/8/layout/process2"/>
    <dgm:cxn modelId="{32749E90-A09B-A142-B1B9-739F3DEF6733}" srcId="{B70330EB-8EE9-6F4B-ACB3-DA28A9D5CDCB}" destId="{DE3B20E7-1DD8-1240-8E68-6B501B1338A3}" srcOrd="3" destOrd="0" parTransId="{551C2752-BBCE-3C4F-A5E1-E17112545180}" sibTransId="{D4709055-3898-5748-B70F-8D218CA187EC}"/>
    <dgm:cxn modelId="{32815492-38E2-8F4A-94D6-0326B8FC35D4}" srcId="{B70330EB-8EE9-6F4B-ACB3-DA28A9D5CDCB}" destId="{2DC7C84D-A04F-F74F-ABCA-56A12D0F2193}" srcOrd="2" destOrd="0" parTransId="{83584997-631A-624B-92D0-0702CED77B34}" sibTransId="{EA10DDAA-07DB-A544-A64F-2B3E6489611E}"/>
    <dgm:cxn modelId="{2FBCD29C-8112-2649-8525-75B48DEE3BAC}" srcId="{B70330EB-8EE9-6F4B-ACB3-DA28A9D5CDCB}" destId="{3345CB5B-0D44-F44F-8594-2E85BC60186E}" srcOrd="0" destOrd="0" parTransId="{972CDDA2-9E8F-BB44-8576-CDF07AD6A992}" sibTransId="{3F554A89-7CC3-0D47-846E-51BD42F4E82D}"/>
    <dgm:cxn modelId="{D86DDFA8-E2DA-5D4A-9503-47C79D6A8252}" type="presOf" srcId="{2DC7C84D-A04F-F74F-ABCA-56A12D0F2193}" destId="{16924EA3-C7C5-9549-A1E6-F29B53D3559E}" srcOrd="0" destOrd="0" presId="urn:microsoft.com/office/officeart/2005/8/layout/process2"/>
    <dgm:cxn modelId="{C08A7EB5-12A7-4545-B2EA-D6EE0C0D55AC}" srcId="{B70330EB-8EE9-6F4B-ACB3-DA28A9D5CDCB}" destId="{BBD06C90-B61E-4B4F-8BF9-1DC5C3FE7BA1}" srcOrd="1" destOrd="0" parTransId="{67C9ACD4-1962-C94D-B739-0036F8E200F4}" sibTransId="{90EC15F6-B3E8-E54B-86A8-1338C4188EF9}"/>
    <dgm:cxn modelId="{F3D99AD3-DAED-9B42-81EA-E9E9F1A5C6AE}" type="presOf" srcId="{DE3B20E7-1DD8-1240-8E68-6B501B1338A3}" destId="{FC2444D8-974B-4D47-AA5E-D0FE4AE86DBC}" srcOrd="0" destOrd="0" presId="urn:microsoft.com/office/officeart/2005/8/layout/process2"/>
    <dgm:cxn modelId="{7BFF6A5B-22B1-AE47-A715-C911ECF52F7D}" type="presParOf" srcId="{0E0D94EA-BBA0-8845-A572-F836194A9141}" destId="{354B3DA5-9001-FE4B-BD5C-FEFF7374C9F3}" srcOrd="0" destOrd="0" presId="urn:microsoft.com/office/officeart/2005/8/layout/process2"/>
    <dgm:cxn modelId="{27A1DF0A-F962-544E-9945-F60CD299D0D3}" type="presParOf" srcId="{0E0D94EA-BBA0-8845-A572-F836194A9141}" destId="{3FA1F1CB-645F-D440-88D4-570F61DC378A}" srcOrd="1" destOrd="0" presId="urn:microsoft.com/office/officeart/2005/8/layout/process2"/>
    <dgm:cxn modelId="{31C8F42D-D058-EC4B-983B-8BD834648C0C}" type="presParOf" srcId="{3FA1F1CB-645F-D440-88D4-570F61DC378A}" destId="{1D3E456D-DCC3-6B48-BA20-F313ABDA230B}" srcOrd="0" destOrd="0" presId="urn:microsoft.com/office/officeart/2005/8/layout/process2"/>
    <dgm:cxn modelId="{416EFA58-47FB-0740-B70F-C0D094A65556}" type="presParOf" srcId="{0E0D94EA-BBA0-8845-A572-F836194A9141}" destId="{F5FA2B04-EB1B-C049-AF69-C5A6A85D2FC1}" srcOrd="2" destOrd="0" presId="urn:microsoft.com/office/officeart/2005/8/layout/process2"/>
    <dgm:cxn modelId="{B88C351C-BDED-F041-A837-404C94DA81D9}" type="presParOf" srcId="{0E0D94EA-BBA0-8845-A572-F836194A9141}" destId="{42EA484B-3E6B-A24C-A692-E5136733A3F7}" srcOrd="3" destOrd="0" presId="urn:microsoft.com/office/officeart/2005/8/layout/process2"/>
    <dgm:cxn modelId="{B5AAADA1-810B-5344-AAEC-ACC3B897EE33}" type="presParOf" srcId="{42EA484B-3E6B-A24C-A692-E5136733A3F7}" destId="{61DD9512-937E-F645-8226-6F4AC0C6A81D}" srcOrd="0" destOrd="0" presId="urn:microsoft.com/office/officeart/2005/8/layout/process2"/>
    <dgm:cxn modelId="{12944894-C166-3041-A2F9-F6F530D26B9F}" type="presParOf" srcId="{0E0D94EA-BBA0-8845-A572-F836194A9141}" destId="{16924EA3-C7C5-9549-A1E6-F29B53D3559E}" srcOrd="4" destOrd="0" presId="urn:microsoft.com/office/officeart/2005/8/layout/process2"/>
    <dgm:cxn modelId="{39C081D9-EEF4-784D-8BA0-7A35A4E2EF59}" type="presParOf" srcId="{0E0D94EA-BBA0-8845-A572-F836194A9141}" destId="{DADA9762-D196-064A-AB81-CE57C717EA00}" srcOrd="5" destOrd="0" presId="urn:microsoft.com/office/officeart/2005/8/layout/process2"/>
    <dgm:cxn modelId="{2125488B-B218-3A4C-972C-754D6A5005A9}" type="presParOf" srcId="{DADA9762-D196-064A-AB81-CE57C717EA00}" destId="{55197CC6-541A-8343-AA9C-FE749A7F2A05}" srcOrd="0" destOrd="0" presId="urn:microsoft.com/office/officeart/2005/8/layout/process2"/>
    <dgm:cxn modelId="{E3B494E3-B76A-CC4C-9807-0647C0836AD9}" type="presParOf" srcId="{0E0D94EA-BBA0-8845-A572-F836194A9141}" destId="{FC2444D8-974B-4D47-AA5E-D0FE4AE86DBC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4B3DA5-9001-FE4B-BD5C-FEFF7374C9F3}">
      <dsp:nvSpPr>
        <dsp:cNvPr id="0" name=""/>
        <dsp:cNvSpPr/>
      </dsp:nvSpPr>
      <dsp:spPr>
        <a:xfrm>
          <a:off x="2407908" y="0"/>
          <a:ext cx="6400796" cy="7222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kern="1200" noProof="0" dirty="0"/>
            <a:t>Identificación de líneas de emisión </a:t>
          </a:r>
        </a:p>
      </dsp:txBody>
      <dsp:txXfrm>
        <a:off x="2429061" y="21153"/>
        <a:ext cx="6358490" cy="679900"/>
      </dsp:txXfrm>
    </dsp:sp>
    <dsp:sp modelId="{3FA1F1CB-645F-D440-88D4-570F61DC378A}">
      <dsp:nvSpPr>
        <dsp:cNvPr id="0" name=""/>
        <dsp:cNvSpPr/>
      </dsp:nvSpPr>
      <dsp:spPr>
        <a:xfrm rot="5313085">
          <a:off x="5485843" y="741231"/>
          <a:ext cx="272370" cy="3249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_tradnl" sz="1300" kern="1200" noProof="0" dirty="0"/>
        </a:p>
      </dsp:txBody>
      <dsp:txXfrm rot="-5400000">
        <a:off x="5523498" y="767555"/>
        <a:ext cx="194996" cy="190659"/>
      </dsp:txXfrm>
    </dsp:sp>
    <dsp:sp modelId="{F5FA2B04-EB1B-C049-AF69-C5A6A85D2FC1}">
      <dsp:nvSpPr>
        <dsp:cNvPr id="0" name=""/>
        <dsp:cNvSpPr/>
      </dsp:nvSpPr>
      <dsp:spPr>
        <a:xfrm>
          <a:off x="2435352" y="1085250"/>
          <a:ext cx="6400796" cy="7222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kern="1200" noProof="0" dirty="0"/>
            <a:t>Ajuste del continuo mediante la sustracción de un polinomio de primer orden del continuo de tu línea</a:t>
          </a:r>
        </a:p>
      </dsp:txBody>
      <dsp:txXfrm>
        <a:off x="2456505" y="1106403"/>
        <a:ext cx="6358490" cy="679900"/>
      </dsp:txXfrm>
    </dsp:sp>
    <dsp:sp modelId="{42EA484B-3E6B-A24C-A692-E5136733A3F7}">
      <dsp:nvSpPr>
        <dsp:cNvPr id="0" name=""/>
        <dsp:cNvSpPr/>
      </dsp:nvSpPr>
      <dsp:spPr>
        <a:xfrm rot="5400000">
          <a:off x="5500337" y="1825511"/>
          <a:ext cx="270827" cy="3249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_tradnl" sz="1300" kern="1200" noProof="0" dirty="0"/>
        </a:p>
      </dsp:txBody>
      <dsp:txXfrm rot="-5400000">
        <a:off x="5538253" y="1852593"/>
        <a:ext cx="194996" cy="189579"/>
      </dsp:txXfrm>
    </dsp:sp>
    <dsp:sp modelId="{16924EA3-C7C5-9549-A1E6-F29B53D3559E}">
      <dsp:nvSpPr>
        <dsp:cNvPr id="0" name=""/>
        <dsp:cNvSpPr/>
      </dsp:nvSpPr>
      <dsp:spPr>
        <a:xfrm>
          <a:off x="2435352" y="2168559"/>
          <a:ext cx="6400796" cy="7222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kern="1200" noProof="0" dirty="0"/>
            <a:t>Ajusta la línea identificada con un perfil de línea apilado y escalado</a:t>
          </a:r>
        </a:p>
      </dsp:txBody>
      <dsp:txXfrm>
        <a:off x="2456505" y="2189712"/>
        <a:ext cx="6358490" cy="679900"/>
      </dsp:txXfrm>
    </dsp:sp>
    <dsp:sp modelId="{DADA9762-D196-064A-AB81-CE57C717EA00}">
      <dsp:nvSpPr>
        <dsp:cNvPr id="0" name=""/>
        <dsp:cNvSpPr/>
      </dsp:nvSpPr>
      <dsp:spPr>
        <a:xfrm rot="5400000">
          <a:off x="5500337" y="2908820"/>
          <a:ext cx="270827" cy="3249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_tradnl" sz="1300" kern="1200" noProof="0" dirty="0"/>
        </a:p>
      </dsp:txBody>
      <dsp:txXfrm rot="-5400000">
        <a:off x="5538253" y="2935902"/>
        <a:ext cx="194996" cy="189579"/>
      </dsp:txXfrm>
    </dsp:sp>
    <dsp:sp modelId="{FC2444D8-974B-4D47-AA5E-D0FE4AE86DBC}">
      <dsp:nvSpPr>
        <dsp:cNvPr id="0" name=""/>
        <dsp:cNvSpPr/>
      </dsp:nvSpPr>
      <dsp:spPr>
        <a:xfrm>
          <a:off x="2435352" y="3251868"/>
          <a:ext cx="6400796" cy="7222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kern="1200" noProof="0" dirty="0"/>
            <a:t>Cálculo del flujo de la línea entre el perfil de línea apilado y el piso del continuo.</a:t>
          </a:r>
        </a:p>
      </dsp:txBody>
      <dsp:txXfrm>
        <a:off x="2456505" y="3273021"/>
        <a:ext cx="6358490" cy="679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02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F420A-BE9D-B306-F2B4-28C15E7AA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FE479-181E-382D-381D-885075028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FF89C-16D6-0938-76EA-6F1A85CA5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8DCAD-FDAA-1506-F683-87ECA5DEE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29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713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061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73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94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02CEE-4211-D5FF-0D79-A8AA533C8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75F42B-26BF-7052-B948-80C66BBF0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77E72-B07E-C77A-BCDF-D0A7B83AF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B22D4-44D2-B971-390F-937DACFFE5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22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9B394-AD3D-4EAE-E47E-88B71F3D4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BAB76E-122C-5194-5DF0-54D68E670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67E59A-9675-0720-A177-90A3436B6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D1A02-DCDD-B010-B237-3CD91BFBD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73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235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686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733F41-0D5D-4BD1-9B7A-D4E6507FF061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CA07995-5D53-4776-85C9-63AB19177BBD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05EB9AD9-3A09-43DA-BE06-99F2877C8370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E713609-24E4-49C2-8D3B-54DF98B5FB15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AFB90B-BD82-4285-8703-51C27E8EBB24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E552079-66A3-4E75-868B-9BDD1552A3D8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DD90A2E-1B22-4804-9B7B-7BF58B42AB68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470F8402-2A40-4993-B30B-96CC0AA51B13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F96641-E00A-4310-B8FB-C135D0C5873A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CB15CD1-0A2D-4058-B7BD-5251874E8FC8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5DB5B10A-5083-404B-BC8E-8C7FFE2C14CB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B3A12148-5DA4-4983-90AA-A6D6C9D21BFF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E352-598A-4B1B-B5C3-5AF0F480D9F4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D1738-F72D-408F-AEE4-26AF1CA64327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D88C37A-4495-4513-9713-FE58B2562479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71237A6-433D-4685-950E-B488DB1C21EB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2D0B93-F0C6-4EDC-8D01-21AF8414DB0B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60B16E6A-BE66-4C10-B2EF-82D497452037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75525F09-654A-4986-AEB5-105943927FFF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6B95A195-06ED-425C-AE42-5F401074E527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FE0BBBF-88A1-45D0-92F4-688C9A9EB746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CB9A693-1CEA-4CE5-97C0-B744E2E4C443}" type="datetime1">
              <a:rPr lang="en-US" smtClean="0"/>
              <a:t>9/20/26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DB4E5125-F631-497D-9D66-6B16EDCEF9EC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0E3E2ABA-0858-4C47-B63B-EB20BF7CDCB4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58188D3-29F4-441A-8648-3BEDA709658E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F55E9-8BCB-4919-8BA5-D3C6BE098DEB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E2DBAF7-BE63-4E6D-BB43-E0515C135A52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9738B68-D6E8-46F0-93D8-563AD462B8A4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60700CB6-F9D2-4B8E-8051-B1762706001A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8F378176-AAE8-4F37-8F8B-ADE84F78A1B1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595CD5CC-4A00-4D28-83B4-F3F2A23123B8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A8039BA-3C75-4618-B997-02D66D8586A4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F010729-9569-4BCC-BA95-64D9BD5D6003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D27EA42-A686-45A5-AF28-A9A65D1B7CD0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EBB8B5-730B-460E-BA44-03132175559A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1E1193-774B-469D-864C-185CEC0EFAE5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20E4E8EC-2A9C-4605-821D-8DBAECA8A8B0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6F9C198-7AE4-4F70-AC2C-3DB14520373C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ADC42D8-3B39-489F-839A-17611120488C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2DF06D-1997-4801-9B88-7726F795FD79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7CA3387-2F47-4E10-875A-30F0CB9BAFB6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B2901A-0F4A-4593-B4AB-ECAEA3E52340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7DC92FC0-6BB4-4429-A405-7158E0DB56FE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FC58507-C109-472E-B16B-67DD91B4ED1A}" type="datetime1">
              <a:rPr lang="en-US" smtClean="0"/>
              <a:t>9/20/26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4D97B1D-D35A-475A-8EDC-9E7F2D918F40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ED768F6-FB0A-4303-8421-8700A9DEBB71}" type="datetime1">
              <a:rPr lang="en-US" smtClean="0"/>
              <a:t>9/20/26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82D3FB6-7E9D-4256-8D31-00BFBB8DCD1A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7D408E8-C1B2-4341-B9C3-278DE31F8035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CB1180A-E2AC-4574-9715-A7F3D1E99C18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B4A4791F-41EB-4FE7-AAC7-0A7EEDE403C2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F4071905-686E-4E27-9996-F57E08427CAA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gif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20D21D-E70A-8481-5F47-EA59DBCABB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12482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228600"/>
            <a:ext cx="11963400" cy="2180594"/>
          </a:xfrm>
        </p:spPr>
        <p:txBody>
          <a:bodyPr>
            <a:noAutofit/>
          </a:bodyPr>
          <a:lstStyle/>
          <a:p>
            <a:r>
              <a:rPr lang="es-ES_tradnl" sz="6000" noProof="0" dirty="0"/>
              <a:t>Planetas en Construcción:</a:t>
            </a:r>
            <a:br>
              <a:rPr lang="es-ES_tradnl" sz="6000" noProof="0" dirty="0"/>
            </a:br>
            <a:r>
              <a:rPr lang="es-ES_tradnl" sz="4800" noProof="0" dirty="0"/>
              <a:t>Un Viaje a Través de </a:t>
            </a:r>
            <a:br>
              <a:rPr lang="es-ES_tradnl" sz="4800" noProof="0" dirty="0"/>
            </a:br>
            <a:r>
              <a:rPr lang="es-ES_tradnl" sz="4800" noProof="0" dirty="0" err="1"/>
              <a:t>Espectra</a:t>
            </a:r>
            <a:r>
              <a:rPr lang="es-ES_tradnl" sz="4800" noProof="0" dirty="0"/>
              <a:t> molecular</a:t>
            </a:r>
            <a:br>
              <a:rPr lang="es-ES_tradnl" sz="4800" noProof="0" dirty="0"/>
            </a:br>
            <a:r>
              <a:rPr lang="es-ES_tradnl" sz="4800" noProof="0" dirty="0"/>
              <a:t>Dia 2</a:t>
            </a:r>
            <a:endParaRPr lang="es-ES_tradnl" sz="4200" noProof="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029200"/>
            <a:ext cx="6324602" cy="1600199"/>
          </a:xfrm>
        </p:spPr>
        <p:txBody>
          <a:bodyPr>
            <a:normAutofit/>
          </a:bodyPr>
          <a:lstStyle/>
          <a:p>
            <a:r>
              <a:rPr lang="es-ES_tradnl" sz="2000" noProof="0" dirty="0"/>
              <a:t>Michael Sánchez, </a:t>
            </a:r>
            <a:r>
              <a:rPr lang="es-ES_tradnl" sz="2000" noProof="0" dirty="0" err="1"/>
              <a:t>M.Sc</a:t>
            </a:r>
            <a:r>
              <a:rPr lang="es-ES_tradnl" sz="2000" noProof="0" dirty="0"/>
              <a:t>.</a:t>
            </a:r>
          </a:p>
          <a:p>
            <a:r>
              <a:rPr lang="es-ES_tradnl" sz="2000" noProof="0" dirty="0"/>
              <a:t>Analista de Datos </a:t>
            </a:r>
          </a:p>
          <a:p>
            <a:r>
              <a:rPr lang="es-ES_tradnl" sz="2000" noProof="0" dirty="0"/>
              <a:t>Observatorio Nacional de Radio Astronomía (NRAO)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ABDFD1-3BCA-CBED-54C1-D2A4EA7CBE80}"/>
              </a:ext>
            </a:extLst>
          </p:cNvPr>
          <p:cNvSpPr txBox="1"/>
          <p:nvPr/>
        </p:nvSpPr>
        <p:spPr>
          <a:xfrm>
            <a:off x="5300870" y="5506133"/>
            <a:ext cx="65081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2000" noProof="0" dirty="0">
                <a:solidFill>
                  <a:schemeClr val="bg1"/>
                </a:solidFill>
              </a:rPr>
              <a:t>20 Septiembre 2026</a:t>
            </a:r>
          </a:p>
          <a:p>
            <a:pPr algn="r"/>
            <a:r>
              <a:rPr lang="es-ES_tradnl" sz="2000" noProof="0" dirty="0">
                <a:solidFill>
                  <a:schemeClr val="bg1"/>
                </a:solidFill>
              </a:rPr>
              <a:t>InspiraSTEM </a:t>
            </a:r>
          </a:p>
        </p:txBody>
      </p:sp>
      <p:pic>
        <p:nvPicPr>
          <p:cNvPr id="10" name="Picture 2" descr="Carbon monoxide poisoning - Wikipedia">
            <a:extLst>
              <a:ext uri="{FF2B5EF4-FFF2-40B4-BE49-F238E27FC236}">
                <a16:creationId xmlns:a16="http://schemas.microsoft.com/office/drawing/2014/main" id="{B77F8338-1EDB-2933-C736-F4E1B397C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77563">
            <a:off x="6673385" y="3265302"/>
            <a:ext cx="233533" cy="11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arbon monoxide poisoning - Wikipedia">
            <a:extLst>
              <a:ext uri="{FF2B5EF4-FFF2-40B4-BE49-F238E27FC236}">
                <a16:creationId xmlns:a16="http://schemas.microsoft.com/office/drawing/2014/main" id="{D72E511A-3C26-AEE0-E5A1-ED46F87C2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58419">
            <a:off x="6848825" y="4005521"/>
            <a:ext cx="426998" cy="216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arbon monoxide poisoning - Wikipedia">
            <a:extLst>
              <a:ext uri="{FF2B5EF4-FFF2-40B4-BE49-F238E27FC236}">
                <a16:creationId xmlns:a16="http://schemas.microsoft.com/office/drawing/2014/main" id="{261B652E-8304-D5F5-6CD4-13B67C6C0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023696" y="3633587"/>
            <a:ext cx="270452" cy="136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arbon monoxide poisoning - Wikipedia">
            <a:extLst>
              <a:ext uri="{FF2B5EF4-FFF2-40B4-BE49-F238E27FC236}">
                <a16:creationId xmlns:a16="http://schemas.microsoft.com/office/drawing/2014/main" id="{22F22052-D672-7213-4B6C-85DE74B0C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474327">
            <a:off x="5955370" y="3885425"/>
            <a:ext cx="457200" cy="231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arbon monoxide poisoning - Wikipedia">
            <a:extLst>
              <a:ext uri="{FF2B5EF4-FFF2-40B4-BE49-F238E27FC236}">
                <a16:creationId xmlns:a16="http://schemas.microsoft.com/office/drawing/2014/main" id="{F6DB138D-1220-9951-BE42-627CDE901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776629">
            <a:off x="5362292" y="3357813"/>
            <a:ext cx="414319" cy="20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arbon monoxide poisoning - Wikipedia">
            <a:extLst>
              <a:ext uri="{FF2B5EF4-FFF2-40B4-BE49-F238E27FC236}">
                <a16:creationId xmlns:a16="http://schemas.microsoft.com/office/drawing/2014/main" id="{6759FE15-6FA7-979E-4C4C-AA8B77649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31299">
            <a:off x="5928269" y="3219813"/>
            <a:ext cx="346250" cy="175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A15950-5EA7-BE7A-856D-D5E0AA531999}"/>
              </a:ext>
            </a:extLst>
          </p:cNvPr>
          <p:cNvSpPr txBox="1"/>
          <p:nvPr/>
        </p:nvSpPr>
        <p:spPr>
          <a:xfrm>
            <a:off x="9616848" y="6581001"/>
            <a:ext cx="25673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100" noProof="0" dirty="0" err="1"/>
              <a:t>Credito</a:t>
            </a:r>
            <a:r>
              <a:rPr lang="es-ES_tradnl" sz="1100" noProof="0" dirty="0"/>
              <a:t> de imagen: ESO/L. Calçada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A7A178A-DA96-6132-E376-E7C9266888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74"/>
          <a:stretch>
            <a:fillRect/>
          </a:stretch>
        </p:blipFill>
        <p:spPr>
          <a:xfrm>
            <a:off x="9448800" y="3503418"/>
            <a:ext cx="2512498" cy="149851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7034598-F64D-BDCA-2B4E-FF9851F00F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00" r="9866" b="4267"/>
          <a:stretch>
            <a:fillRect/>
          </a:stretch>
        </p:blipFill>
        <p:spPr>
          <a:xfrm>
            <a:off x="7407692" y="1150047"/>
            <a:ext cx="4708108" cy="213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60609-61E3-8B43-9659-4B3D07194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5181A-73D4-2389-3449-9A8EA3EFD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75039"/>
            <a:ext cx="10963655" cy="762001"/>
          </a:xfrm>
        </p:spPr>
        <p:txBody>
          <a:bodyPr/>
          <a:lstStyle/>
          <a:p>
            <a:r>
              <a:rPr lang="es-ES_tradnl" noProof="0" dirty="0"/>
              <a:t>Modelos espectroscópicos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30471-86E9-7BDC-0084-B15243C32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1823" y="1447800"/>
            <a:ext cx="6931153" cy="4191000"/>
          </a:xfrm>
        </p:spPr>
        <p:txBody>
          <a:bodyPr/>
          <a:lstStyle/>
          <a:p>
            <a:pPr lvl="1" algn="ctr"/>
            <a:r>
              <a:rPr lang="es-ES_tradnl" sz="2000" u="sng" noProof="0" dirty="0"/>
              <a:t>Cómo Medir el Flujo de las Líneas de CO: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988938-7752-E72B-2729-E0D72C438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714E3-5FFC-6691-60E2-AC9B6ADA0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2</a:t>
            </a:fld>
            <a:endParaRPr lang="es-ES_tradnl" noProof="0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81A9375D-F50B-F56E-7B44-217AEB8309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3247619"/>
              </p:ext>
            </p:extLst>
          </p:nvPr>
        </p:nvGraphicFramePr>
        <p:xfrm>
          <a:off x="304800" y="2015362"/>
          <a:ext cx="11271502" cy="39760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48159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BB673-439C-AD3D-C5FF-F72E50DF1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8C1B1-F480-0A15-9A86-A272C7546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75039"/>
            <a:ext cx="10963655" cy="762001"/>
          </a:xfrm>
        </p:spPr>
        <p:txBody>
          <a:bodyPr/>
          <a:lstStyle/>
          <a:p>
            <a:r>
              <a:rPr lang="es-ES_tradnl" noProof="0" dirty="0"/>
              <a:t>Modelos espectroscópicos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A3237-B8EF-3DC3-D9DC-6CE028CE1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1823" y="1447800"/>
            <a:ext cx="6931153" cy="4191000"/>
          </a:xfrm>
        </p:spPr>
        <p:txBody>
          <a:bodyPr/>
          <a:lstStyle/>
          <a:p>
            <a:pPr lvl="0" algn="ctr"/>
            <a:r>
              <a:rPr lang="es-ES_tradnl" sz="2000" noProof="0" dirty="0"/>
              <a:t>Identificación de líneas de emisión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9EA252-54A1-6244-AF0C-0D30DCEF9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3274A-C2FD-3DD4-56EB-740CD62EE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3</a:t>
            </a:fld>
            <a:endParaRPr lang="es-ES_tradnl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C4445B-E8CE-5833-E1A4-36C80DFE9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74" y="1983854"/>
            <a:ext cx="11589041" cy="20707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155B25-3F9F-9436-4280-27FD8FC86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98" y="4333153"/>
            <a:ext cx="11893403" cy="130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26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D2196-8963-5238-1470-70A976CF3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75039"/>
            <a:ext cx="10963655" cy="762001"/>
          </a:xfrm>
        </p:spPr>
        <p:txBody>
          <a:bodyPr/>
          <a:lstStyle/>
          <a:p>
            <a:r>
              <a:rPr lang="es-ES_tradnl" noProof="0" dirty="0"/>
              <a:t>Modelos espectroscópicos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730D0-856A-CDAC-9A57-CEDE37B0F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1823" y="1447800"/>
            <a:ext cx="6931153" cy="4191000"/>
          </a:xfrm>
        </p:spPr>
        <p:txBody>
          <a:bodyPr/>
          <a:lstStyle/>
          <a:p>
            <a:pPr lvl="0" algn="ctr"/>
            <a:r>
              <a:rPr lang="es-ES_tradnl" sz="2000" noProof="0" dirty="0"/>
              <a:t>Identificación de líneas de emisión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70E7AD-828A-4F66-B6B3-FB97B16ED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8F0D4-B22E-311F-CAF1-31575003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4</a:t>
            </a:fld>
            <a:endParaRPr lang="es-ES_tradnl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6CA1AB-2049-1756-E5D3-059FF7C0A9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192"/>
          <a:stretch>
            <a:fillRect/>
          </a:stretch>
        </p:blipFill>
        <p:spPr>
          <a:xfrm>
            <a:off x="2743200" y="1905000"/>
            <a:ext cx="6931153" cy="20707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E046FF-DD32-BA33-28ED-BD29B9458E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078"/>
          <a:stretch>
            <a:fillRect/>
          </a:stretch>
        </p:blipFill>
        <p:spPr>
          <a:xfrm>
            <a:off x="1339242" y="4200766"/>
            <a:ext cx="9510463" cy="201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053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AE27-A715-E1F2-CDE3-B1D873A4D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C7AC-F2EA-8070-1B97-9BE2D7A6C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75039"/>
            <a:ext cx="10963655" cy="762001"/>
          </a:xfrm>
        </p:spPr>
        <p:txBody>
          <a:bodyPr/>
          <a:lstStyle/>
          <a:p>
            <a:r>
              <a:rPr lang="es-ES_tradnl" noProof="0" dirty="0"/>
              <a:t>Modelos espectroscópicos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5CC4D-3BD2-DD63-CA72-C6180D29B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1823" y="1447800"/>
            <a:ext cx="6931153" cy="4191000"/>
          </a:xfrm>
        </p:spPr>
        <p:txBody>
          <a:bodyPr/>
          <a:lstStyle/>
          <a:p>
            <a:pPr lvl="0" algn="ctr"/>
            <a:r>
              <a:rPr lang="es-ES_tradnl" sz="2000" noProof="0" dirty="0"/>
              <a:t>Ajuste del continuo mediante la sustracción de un polinomio de primer orden del continuo de tu línea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FADD82-DC35-AD0E-53A9-D78C8FA3E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A99183-13DA-2396-4C69-FAA507562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5</a:t>
            </a:fld>
            <a:endParaRPr lang="es-ES_tradnl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48F86A-3E7F-109F-4AE7-D3A2FC8D0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193376"/>
            <a:ext cx="7772400" cy="40734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F56D21-977B-34C2-125C-F3BB0944C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08" y="2195522"/>
            <a:ext cx="2975192" cy="412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6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6A193-F52E-5683-2A05-F296612FA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2EC74-88D7-5D3E-6E28-7A76AACD8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75039"/>
            <a:ext cx="10963655" cy="762001"/>
          </a:xfrm>
        </p:spPr>
        <p:txBody>
          <a:bodyPr/>
          <a:lstStyle/>
          <a:p>
            <a:r>
              <a:rPr lang="es-ES_tradnl" noProof="0" dirty="0"/>
              <a:t>Modelos espectroscópicos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EB89-8271-6282-9828-3D44979B2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1823" y="1447800"/>
            <a:ext cx="6931153" cy="4191000"/>
          </a:xfrm>
        </p:spPr>
        <p:txBody>
          <a:bodyPr/>
          <a:lstStyle/>
          <a:p>
            <a:pPr lvl="0" algn="ctr"/>
            <a:r>
              <a:rPr lang="es-ES_tradnl" sz="2000" noProof="0" dirty="0"/>
              <a:t>Ajuste del continuo mediante la sustracción de un polinomio de primer orden del continuo de tu línea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077AF6-4616-F8A5-3F94-C1676366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729EB-9EA7-8009-CA8D-45BF94121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6</a:t>
            </a:fld>
            <a:endParaRPr lang="es-ES_tradnl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F248E6-5DC2-DD5A-7B04-A25F4FE3D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349" y="2209800"/>
            <a:ext cx="7772400" cy="399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04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28159-5B6C-3892-0A23-DDF0AF6A7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983AF-D946-056F-1448-B3F52898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75039"/>
            <a:ext cx="10963655" cy="762001"/>
          </a:xfrm>
        </p:spPr>
        <p:txBody>
          <a:bodyPr/>
          <a:lstStyle/>
          <a:p>
            <a:r>
              <a:rPr lang="es-ES_tradnl" noProof="0" dirty="0"/>
              <a:t>Modelos espectroscópicos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51F72-FAEC-F547-73BA-12FADD982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1823" y="1447800"/>
            <a:ext cx="6931153" cy="4191000"/>
          </a:xfrm>
        </p:spPr>
        <p:txBody>
          <a:bodyPr/>
          <a:lstStyle/>
          <a:p>
            <a:pPr lvl="0" algn="ctr"/>
            <a:r>
              <a:rPr lang="es-ES_tradnl" sz="2000" b="1" noProof="0" dirty="0"/>
              <a:t>Ajusta la línea</a:t>
            </a:r>
            <a:r>
              <a:rPr lang="es-ES_tradnl" sz="2000" noProof="0" dirty="0"/>
              <a:t> identificada con un perfil de </a:t>
            </a:r>
            <a:r>
              <a:rPr lang="es-ES_tradnl" sz="2000" b="1" noProof="0" dirty="0"/>
              <a:t>línea apilado </a:t>
            </a:r>
            <a:r>
              <a:rPr lang="es-ES_tradnl" sz="2000" noProof="0" dirty="0"/>
              <a:t>y escalado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67A1D7-452B-36AE-5011-0C85006C0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E2624E-5094-FB22-E061-C031B0B5D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7</a:t>
            </a:fld>
            <a:endParaRPr lang="es-ES_tradnl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421F82-41B3-1E9D-45DF-5744E85FE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94" y="2195522"/>
            <a:ext cx="2975192" cy="41209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E0E0B0-CE95-86EA-B749-80A79EC08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290" y="2189083"/>
            <a:ext cx="2975192" cy="41209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A70F1C-208E-37AD-01DF-B96FCD0C2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2195522"/>
            <a:ext cx="2975192" cy="41209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96E171-C716-0BE4-4532-172132110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218" y="2222997"/>
            <a:ext cx="2975192" cy="4120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871A36-EBED-574A-C959-947911E37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629" y="2222997"/>
            <a:ext cx="2975192" cy="412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71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BB402-1E9A-5104-95E2-34D925141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068A1-B9C3-A698-AE96-3CDEBB78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75039"/>
            <a:ext cx="10963655" cy="762001"/>
          </a:xfrm>
        </p:spPr>
        <p:txBody>
          <a:bodyPr/>
          <a:lstStyle/>
          <a:p>
            <a:r>
              <a:rPr lang="es-ES_tradnl" noProof="0" dirty="0"/>
              <a:t>Modelos espectroscópicos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1A4A7-3FDF-5A20-40C9-DFF894ED9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1823" y="1447800"/>
            <a:ext cx="6931153" cy="4191000"/>
          </a:xfrm>
        </p:spPr>
        <p:txBody>
          <a:bodyPr/>
          <a:lstStyle/>
          <a:p>
            <a:pPr lvl="0" algn="ctr"/>
            <a:r>
              <a:rPr lang="es-ES_tradnl" sz="2000" b="1" noProof="0" dirty="0"/>
              <a:t>Ajusta la línea</a:t>
            </a:r>
            <a:r>
              <a:rPr lang="es-ES_tradnl" sz="2000" noProof="0" dirty="0"/>
              <a:t> identificada con un perfil de </a:t>
            </a:r>
            <a:r>
              <a:rPr lang="es-ES_tradnl" sz="2000" b="1" noProof="0" dirty="0"/>
              <a:t>línea apilado </a:t>
            </a:r>
            <a:r>
              <a:rPr lang="es-ES_tradnl" sz="2000" noProof="0" dirty="0"/>
              <a:t>y escalado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667618-A8DE-C84B-1DAD-38584FC58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70146-9F09-57B7-CE3A-A07C5A7EB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8</a:t>
            </a:fld>
            <a:endParaRPr lang="es-ES_tradnl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AA6B44-1A8D-DFCA-B0A2-E8D7A960A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159311"/>
            <a:ext cx="2975192" cy="41209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4231E3-BA82-9C95-F24E-D4EEC9A23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175937"/>
            <a:ext cx="7772400" cy="408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22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A464B-0097-88F3-38FC-285B26249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C64DD-4A82-C6F6-CAF9-B83396981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75039"/>
            <a:ext cx="10963655" cy="762001"/>
          </a:xfrm>
        </p:spPr>
        <p:txBody>
          <a:bodyPr/>
          <a:lstStyle/>
          <a:p>
            <a:r>
              <a:rPr lang="es-ES_tradnl" noProof="0" dirty="0"/>
              <a:t>Modelos espectroscópicos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7AC84-65C2-06CD-D907-D9C42256B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1823" y="1447800"/>
            <a:ext cx="6931153" cy="729119"/>
          </a:xfrm>
        </p:spPr>
        <p:txBody>
          <a:bodyPr/>
          <a:lstStyle/>
          <a:p>
            <a:pPr lvl="0" algn="ctr"/>
            <a:r>
              <a:rPr lang="es-ES_tradnl" sz="2000" b="1" noProof="0" dirty="0"/>
              <a:t>Ajusta la línea</a:t>
            </a:r>
            <a:r>
              <a:rPr lang="es-ES_tradnl" sz="2000" noProof="0" dirty="0"/>
              <a:t> identificada con un perfil de </a:t>
            </a:r>
            <a:r>
              <a:rPr lang="es-ES_tradnl" sz="2000" b="1" noProof="0" dirty="0"/>
              <a:t>línea apilado </a:t>
            </a:r>
            <a:r>
              <a:rPr lang="es-ES_tradnl" sz="2000" noProof="0" dirty="0"/>
              <a:t>y escalado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9A6F1-A8FA-E630-B744-DCC4C808B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CF07A-88C1-0493-9E3D-CC305CDD9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9</a:t>
            </a:fld>
            <a:endParaRPr lang="es-ES_tradnl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CAA506-04E1-2D15-85E7-C8A48ED63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911" y="2303228"/>
            <a:ext cx="5312391" cy="40407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D99339-99B2-915D-FF21-22880FB17BC7}"/>
                  </a:ext>
                </a:extLst>
              </p:cNvPr>
              <p:cNvSpPr txBox="1"/>
              <p:nvPr/>
            </p:nvSpPr>
            <p:spPr>
              <a:xfrm>
                <a:off x="158497" y="2649009"/>
                <a:ext cx="6098146" cy="848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ES_tradnl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i="1" noProof="0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s-ES_tradnl" i="0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_tradnl" i="0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s-ES_tradnl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ES_tradnl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i="0" noProof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_tradnl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s-ES_tradnl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ES_tradnl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ES_tradnl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_tradnl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_tradnl" i="1" noProof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ES_tradnl" i="1" noProof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ES_tradnl" i="0" noProof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ES_tradnl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_tradnl" i="1" noProof="0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s-ES_tradnl" i="1" noProof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s-ES_tradnl" i="0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s-ES_tradnl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_tradnl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s-ES_tradnl" i="1" noProof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s-ES_tradnl" i="0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es-ES_tradnl" noProof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D99339-99B2-915D-FF21-22880FB17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7" y="2649009"/>
                <a:ext cx="6098146" cy="848566"/>
              </a:xfrm>
              <a:prstGeom prst="rect">
                <a:avLst/>
              </a:prstGeom>
              <a:blipFill>
                <a:blip r:embed="rId4"/>
                <a:stretch>
                  <a:fillRect t="-98529" b="-15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2738278-2214-F35E-2413-166EF5DFAB03}"/>
              </a:ext>
            </a:extLst>
          </p:cNvPr>
          <p:cNvSpPr txBox="1"/>
          <p:nvPr/>
        </p:nvSpPr>
        <p:spPr>
          <a:xfrm>
            <a:off x="734118" y="4948535"/>
            <a:ext cx="49469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/>
              <a:t>Buscando el </a:t>
            </a:r>
            <a:r>
              <a:rPr lang="es-ES_tradnl" noProof="0" dirty="0" err="1"/>
              <a:t>fit</a:t>
            </a:r>
            <a:r>
              <a:rPr lang="es-ES_tradnl" noProof="0" dirty="0"/>
              <a:t> mas cercana a nuestros datos para como calcular el flujo mas consistente para nuestro modelo.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3B052F-6934-5D93-F110-6B0DDE6A4BFE}"/>
              </a:ext>
            </a:extLst>
          </p:cNvPr>
          <p:cNvSpPr txBox="1"/>
          <p:nvPr/>
        </p:nvSpPr>
        <p:spPr>
          <a:xfrm>
            <a:off x="1143001" y="3962400"/>
            <a:ext cx="2275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/>
              <a:t>Punto de dato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4CB508-AADF-44EB-3391-69AD136D414C}"/>
              </a:ext>
            </a:extLst>
          </p:cNvPr>
          <p:cNvSpPr txBox="1"/>
          <p:nvPr/>
        </p:nvSpPr>
        <p:spPr>
          <a:xfrm>
            <a:off x="3359449" y="3937468"/>
            <a:ext cx="2568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/>
              <a:t>Punto de línea apilada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9DF771-B642-8628-4C64-9EBD75283D61}"/>
              </a:ext>
            </a:extLst>
          </p:cNvPr>
          <p:cNvSpPr txBox="1"/>
          <p:nvPr/>
        </p:nvSpPr>
        <p:spPr>
          <a:xfrm>
            <a:off x="1986372" y="4398242"/>
            <a:ext cx="2275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/>
              <a:t>Error del dato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2D827C9-953F-30CA-1880-E2EF643DE9BC}"/>
              </a:ext>
            </a:extLst>
          </p:cNvPr>
          <p:cNvCxnSpPr>
            <a:stCxn id="16" idx="0"/>
          </p:cNvCxnSpPr>
          <p:nvPr/>
        </p:nvCxnSpPr>
        <p:spPr>
          <a:xfrm flipV="1">
            <a:off x="2280527" y="2971800"/>
            <a:ext cx="843673" cy="9906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D342CDE-83A4-1FBE-3EC3-3247148AF3F3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4038600" y="3124200"/>
            <a:ext cx="605170" cy="81326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7D1C6D5-6D99-0D09-838F-F4EE52D8A76A}"/>
              </a:ext>
            </a:extLst>
          </p:cNvPr>
          <p:cNvCxnSpPr>
            <a:stCxn id="18" idx="0"/>
          </p:cNvCxnSpPr>
          <p:nvPr/>
        </p:nvCxnSpPr>
        <p:spPr>
          <a:xfrm flipV="1">
            <a:off x="3123898" y="3352800"/>
            <a:ext cx="381302" cy="10454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02090B9-137A-03EC-122E-CBEA9F77CA67}"/>
                  </a:ext>
                </a:extLst>
              </p:cNvPr>
              <p:cNvSpPr txBox="1"/>
              <p:nvPr/>
            </p:nvSpPr>
            <p:spPr>
              <a:xfrm>
                <a:off x="932518" y="2176919"/>
                <a:ext cx="24855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_tradnl" noProof="0" dirty="0"/>
                  <a:t>La Función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_tradnl" i="1" noProof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i="1" noProof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ES_tradnl" noProof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_tradnl" noProof="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02090B9-137A-03EC-122E-CBEA9F77C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518" y="2176919"/>
                <a:ext cx="2485534" cy="369332"/>
              </a:xfrm>
              <a:prstGeom prst="rect">
                <a:avLst/>
              </a:prstGeom>
              <a:blipFill>
                <a:blip r:embed="rId5"/>
                <a:stretch>
                  <a:fillRect l="-2030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4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4CF8F-4FF4-1F83-3738-1E65A8031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A9F76-15CB-4331-D100-94E9A23C2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75039"/>
            <a:ext cx="10963655" cy="762001"/>
          </a:xfrm>
        </p:spPr>
        <p:txBody>
          <a:bodyPr/>
          <a:lstStyle/>
          <a:p>
            <a:r>
              <a:rPr lang="es-ES_tradnl" noProof="0" dirty="0"/>
              <a:t>Modelos espectroscópicos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3A7D0-1979-E9FB-515C-8135166B8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1823" y="1447800"/>
            <a:ext cx="6931153" cy="4191000"/>
          </a:xfrm>
        </p:spPr>
        <p:txBody>
          <a:bodyPr/>
          <a:lstStyle/>
          <a:p>
            <a:pPr lvl="0" algn="ctr"/>
            <a:r>
              <a:rPr lang="es-ES_tradnl" sz="2000" noProof="0" dirty="0"/>
              <a:t>Cálculo del flujo de la línea entre el perfil de </a:t>
            </a:r>
            <a:r>
              <a:rPr lang="es-ES_tradnl" sz="2000" b="1" noProof="0" dirty="0"/>
              <a:t>línea apilado </a:t>
            </a:r>
            <a:r>
              <a:rPr lang="es-ES_tradnl" sz="2000" noProof="0" dirty="0"/>
              <a:t>y el piso del continuo.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786759-0144-4B53-0054-0EA7747A8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5299B-B092-DECF-B695-88EAD891E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10</a:t>
            </a:fld>
            <a:endParaRPr lang="es-ES_tradnl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5ECF4D-91B1-7BFE-F6A6-9C9987583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195255"/>
            <a:ext cx="7772400" cy="40877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E60EB4-DEED-9041-7732-B01F5D54465E}"/>
                  </a:ext>
                </a:extLst>
              </p:cNvPr>
              <p:cNvSpPr txBox="1"/>
              <p:nvPr/>
            </p:nvSpPr>
            <p:spPr>
              <a:xfrm>
                <a:off x="0" y="2195255"/>
                <a:ext cx="3771450" cy="658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_tradnl" i="1" noProof="0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ES_tradnl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i="1" noProof="0" smtClean="0">
                              <a:latin typeface="Cambria Math" panose="02040503050406030204" pitchFamily="18" charset="0"/>
                            </a:rPr>
                            <m:t>𝑒𝑟𝑔</m:t>
                          </m:r>
                          <m:r>
                            <a:rPr lang="es-ES_tradnl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s-ES_tradnl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_tradnl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s-ES_tradnl" i="0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s-ES_tradnl" i="1" noProof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lang="es-ES_tradnl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_tradnl" i="1" noProof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s-ES_tradnl" i="0" noProof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</m:e>
                      </m:d>
                      <m:r>
                        <a:rPr lang="es-ES_tradnl" i="0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s-ES_tradnl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_tradnl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 noProof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ES_tradnl" i="1" noProof="0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sub>
                          </m:sSub>
                          <m:r>
                            <a:rPr lang="es-ES_tradnl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ES_tradnl" i="1" noProof="0" smtClean="0">
                              <a:latin typeface="Cambria Math" panose="02040503050406030204" pitchFamily="18" charset="0"/>
                            </a:rPr>
                            <m:t>𝜈</m:t>
                          </m:r>
                          <m:r>
                            <a:rPr lang="es-ES_tradnl" i="0" noProof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s-ES_tradnl" noProof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E60EB4-DEED-9041-7732-B01F5D544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195255"/>
                <a:ext cx="3771450" cy="658706"/>
              </a:xfrm>
              <a:prstGeom prst="rect">
                <a:avLst/>
              </a:prstGeom>
              <a:blipFill>
                <a:blip r:embed="rId4"/>
                <a:stretch>
                  <a:fillRect t="-169811" b="-247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F9E653-A2E0-1359-50BD-6B42EA402A2E}"/>
                  </a:ext>
                </a:extLst>
              </p:cNvPr>
              <p:cNvSpPr txBox="1"/>
              <p:nvPr/>
            </p:nvSpPr>
            <p:spPr>
              <a:xfrm>
                <a:off x="141294" y="4441337"/>
                <a:ext cx="3737019" cy="871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_tradnl" i="1" noProof="0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ES_tradnl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i="1" noProof="0" smtClean="0">
                              <a:latin typeface="Cambria Math" panose="02040503050406030204" pitchFamily="18" charset="0"/>
                            </a:rPr>
                            <m:t>𝑒𝑟𝑔</m:t>
                          </m:r>
                          <m:r>
                            <a:rPr lang="es-ES_tradnl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s-ES_tradnl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_tradnl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s-ES_tradnl" i="0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s-ES_tradnl" i="1" noProof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lang="es-ES_tradnl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_tradnl" i="1" noProof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s-ES_tradnl" i="0" noProof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</m:e>
                      </m:d>
                      <m:r>
                        <a:rPr lang="es-ES_tradnl" i="0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s-ES_tradnl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ES_tradnl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s-ES_tradnl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s-ES_tradnl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sSub>
                            <m:sSubPr>
                              <m:ctrlPr>
                                <a:rPr lang="es-ES_tradnl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_tradnl" i="0" noProof="0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s-ES_tradnl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 noProof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ES_tradnl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noProof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F9E653-A2E0-1359-50BD-6B42EA402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94" y="4441337"/>
                <a:ext cx="3737019" cy="871264"/>
              </a:xfrm>
              <a:prstGeom prst="rect">
                <a:avLst/>
              </a:prstGeom>
              <a:blipFill>
                <a:blip r:embed="rId5"/>
                <a:stretch>
                  <a:fillRect t="-92857" b="-14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274548B-CD10-3530-4769-0071AD9EB4E5}"/>
              </a:ext>
            </a:extLst>
          </p:cNvPr>
          <p:cNvSpPr txBox="1"/>
          <p:nvPr/>
        </p:nvSpPr>
        <p:spPr>
          <a:xfrm>
            <a:off x="102596" y="3427844"/>
            <a:ext cx="2275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/>
              <a:t>Flujo de línea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A84549-3D7E-E6DC-9DBB-28D21634E1F4}"/>
              </a:ext>
            </a:extLst>
          </p:cNvPr>
          <p:cNvSpPr txBox="1"/>
          <p:nvPr/>
        </p:nvSpPr>
        <p:spPr>
          <a:xfrm>
            <a:off x="2846002" y="3414897"/>
            <a:ext cx="1993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/>
              <a:t>Frecuencia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2FC568-B829-94E2-C11E-57BD6282C8B1}"/>
              </a:ext>
            </a:extLst>
          </p:cNvPr>
          <p:cNvSpPr txBox="1"/>
          <p:nvPr/>
        </p:nvSpPr>
        <p:spPr>
          <a:xfrm>
            <a:off x="1275695" y="3807797"/>
            <a:ext cx="2275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/>
              <a:t>Densidad de flujo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C154B2-1877-5E45-9004-F609B073D630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1240122" y="2841495"/>
            <a:ext cx="40197" cy="58634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C96554E-9BA7-82C8-7C83-5CF4D8B23A32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3116186" y="2631993"/>
            <a:ext cx="726411" cy="7829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950AFF-540F-D655-31B9-D1875048279A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2413221" y="2678895"/>
            <a:ext cx="251797" cy="112890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36FE939-32E6-52D1-602E-64E8B99CC829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1232964" y="3797176"/>
            <a:ext cx="7158" cy="91267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08CD05A-BDC0-AFBA-5952-4E65EE8584C5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2413221" y="4177129"/>
            <a:ext cx="428657" cy="52652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E30881F-B71B-D711-0175-3DF644F77C3D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3438322" y="3784229"/>
            <a:ext cx="404275" cy="92562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6C763C7-4FD5-F1C5-1EC8-B2514B46D148}"/>
              </a:ext>
            </a:extLst>
          </p:cNvPr>
          <p:cNvSpPr txBox="1"/>
          <p:nvPr/>
        </p:nvSpPr>
        <p:spPr>
          <a:xfrm>
            <a:off x="26896" y="5588503"/>
            <a:ext cx="4087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/>
              <a:t>Los límites de suma e integración son los límites de frecuencia de la línea</a:t>
            </a:r>
          </a:p>
        </p:txBody>
      </p:sp>
    </p:spTree>
    <p:extLst>
      <p:ext uri="{BB962C8B-B14F-4D97-AF65-F5344CB8AC3E}">
        <p14:creationId xmlns:p14="http://schemas.microsoft.com/office/powerpoint/2010/main" val="54349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13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8AACB-C701-2CE1-BA83-1886DC892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57200"/>
            <a:ext cx="10963655" cy="1524000"/>
          </a:xfrm>
        </p:spPr>
        <p:txBody>
          <a:bodyPr/>
          <a:lstStyle/>
          <a:p>
            <a:r>
              <a:rPr lang="es-ES_tradnl" noProof="0" dirty="0"/>
              <a:t>Modelo Equilibrio local termal (</a:t>
            </a:r>
            <a:r>
              <a:rPr lang="es-ES_tradnl" noProof="0" dirty="0" err="1"/>
              <a:t>lte</a:t>
            </a:r>
            <a:r>
              <a:rPr lang="es-ES_tradnl" noProof="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D2D04C-4B34-DBC9-6E89-FEAB3B12F4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2646" y="2133600"/>
                <a:ext cx="10963656" cy="3124200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_tradnl" sz="2000" noProof="0" dirty="0"/>
                  <a:t>El modelo supone que las emisiones de CO provienen de un anillo gaseoso en estado de equilibrio térmico local (LTE) que gira alrededor de la estrella anfitriona a una velocidad </a:t>
                </a:r>
                <a:r>
                  <a:rPr lang="es-ES_tradnl" sz="2000" noProof="0" dirty="0" err="1"/>
                  <a:t>kepleriana</a:t>
                </a:r>
                <a:r>
                  <a:rPr lang="es-ES_tradnl" sz="2000" noProof="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_tradnl" sz="2000" noProof="0" dirty="0"/>
                  <a:t>El modelo en sí mismo consiste en un paquete de Python cuyas funciones se utilizan para generar los espectros a partir de una sola capa de gas CO </a:t>
                </a:r>
                <a:r>
                  <a:rPr lang="es-ES_tradnl" sz="2000" noProof="0" dirty="0" err="1"/>
                  <a:t>termalizado</a:t>
                </a:r>
                <a:r>
                  <a:rPr lang="es-ES_tradnl" sz="2000" noProof="0" dirty="0"/>
                  <a:t> con un espesor óptico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000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_tradnl" sz="2000" i="1" noProof="0" smtClean="0">
                            <a:latin typeface="Cambria Math" panose="02040503050406030204" pitchFamily="18" charset="0"/>
                          </a:rPr>
                          <m:t>𝐶𝑂</m:t>
                        </m:r>
                      </m:sub>
                    </m:sSub>
                  </m:oMath>
                </a14:m>
                <a:r>
                  <a:rPr lang="es-ES_tradnl" sz="2000" noProof="0" dirty="0"/>
                  <a:t>, una temperatura de excitación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00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_tradnl" sz="2000" i="1" noProof="0" smtClean="0">
                            <a:latin typeface="Cambria Math" panose="02040503050406030204" pitchFamily="18" charset="0"/>
                          </a:rPr>
                          <m:t>𝑒𝑥</m:t>
                        </m:r>
                      </m:sub>
                    </m:sSub>
                  </m:oMath>
                </a14:m>
                <a:r>
                  <a:rPr lang="es-ES_tradnl" sz="3200" noProof="0" dirty="0">
                    <a:effectLst/>
                  </a:rPr>
                  <a:t> </a:t>
                </a:r>
                <a:r>
                  <a:rPr lang="es-ES_tradnl" sz="2000" noProof="0" dirty="0"/>
                  <a:t>y un área de emisión en función del radio, </a:t>
                </a:r>
                <a14:m>
                  <m:oMath xmlns:m="http://schemas.openxmlformats.org/officeDocument/2006/math">
                    <m:r>
                      <a:rPr lang="es-ES_tradnl" sz="2000" i="1" noProof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s-ES_tradnl" sz="20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sz="2000" i="1" noProof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s-ES_tradnl" sz="2000" i="1" noProof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s-ES_tradnl" sz="2000" i="1" noProof="0" smtClean="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s-ES_tradnl" sz="20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sz="2000" i="1" noProof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ES_tradnl" sz="20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sz="3200" noProof="0" dirty="0">
                    <a:effectLst/>
                  </a:rPr>
                  <a:t> </a:t>
                </a:r>
                <a:r>
                  <a:rPr lang="es-ES_tradnl" sz="2000" noProof="0" dirty="0"/>
                  <a:t>(cabe señalar que el modelo en realidad produce un ángulo sólido de emisión,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_tradnl" sz="2000" noProof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s-ES_tradnl" sz="2000" noProof="0" dirty="0"/>
                  <a:t>, pero como se conoce la distancia al objetivo, se obtiene así un área de emisión)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s-ES_tradnl" sz="2000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D2D04C-4B34-DBC9-6E89-FEAB3B12F4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646" y="2133600"/>
                <a:ext cx="10963656" cy="3124200"/>
              </a:xfrm>
              <a:blipFill>
                <a:blip r:embed="rId3"/>
                <a:stretch>
                  <a:fillRect l="-463" t="-1215" r="-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1A25C4-24A4-E476-C4D8-BC48AFFE2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CA5A3C-3205-2E72-C713-EF8ED6DF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11</a:t>
            </a:fld>
            <a:endParaRPr lang="es-ES_tradnl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8917A9-FB9F-0B66-722D-32E1FA3E3016}"/>
              </a:ext>
            </a:extLst>
          </p:cNvPr>
          <p:cNvSpPr txBox="1"/>
          <p:nvPr/>
        </p:nvSpPr>
        <p:spPr>
          <a:xfrm>
            <a:off x="2167751" y="5452159"/>
            <a:ext cx="7856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/>
              <a:t>GitHub! </a:t>
            </a:r>
            <a:br>
              <a:rPr lang="es-ES_tradnl" noProof="0" dirty="0"/>
            </a:br>
            <a:r>
              <a:rPr lang="es-ES_tradnl" noProof="0" dirty="0" err="1"/>
              <a:t>inspirastem</a:t>
            </a:r>
            <a:r>
              <a:rPr lang="es-ES_tradnl" noProof="0" dirty="0"/>
              <a:t>-</a:t>
            </a:r>
            <a:r>
              <a:rPr lang="es-ES_tradnl" noProof="0" dirty="0" err="1"/>
              <a:t>ppd</a:t>
            </a:r>
            <a:r>
              <a:rPr lang="es-ES_tradnl" noProof="0" dirty="0"/>
              <a:t>-CO/02_analises/dia2_actividad.ipynb</a:t>
            </a:r>
          </a:p>
        </p:txBody>
      </p:sp>
    </p:spTree>
    <p:extLst>
      <p:ext uri="{BB962C8B-B14F-4D97-AF65-F5344CB8AC3E}">
        <p14:creationId xmlns:p14="http://schemas.microsoft.com/office/powerpoint/2010/main" val="233607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{B9C844BF-C53A-4256-B6E3-5085CB166BA4}0f45c1b8-b519-4737-8f12-a18148944ef7-TFfcaeb239-e0ad-43c4-9739-4084ddd7c62fe496f549_win32</Template>
  <TotalTime>6843</TotalTime>
  <Words>476</Words>
  <Application>Microsoft Macintosh PowerPoint</Application>
  <PresentationFormat>Widescreen</PresentationFormat>
  <Paragraphs>76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Bahnschrift SemiLight</vt:lpstr>
      <vt:lpstr>Cambria Math</vt:lpstr>
      <vt:lpstr>Blockwork elegance</vt:lpstr>
      <vt:lpstr>Planetas en Construcción: Un Viaje a Través de  Espectra molecular Dia 2</vt:lpstr>
      <vt:lpstr>Modelos espectroscópicos</vt:lpstr>
      <vt:lpstr>Modelos espectroscópicos</vt:lpstr>
      <vt:lpstr>Modelos espectroscópicos</vt:lpstr>
      <vt:lpstr>Modelos espectroscópicos</vt:lpstr>
      <vt:lpstr>Modelos espectroscópicos</vt:lpstr>
      <vt:lpstr>Modelos espectroscópicos</vt:lpstr>
      <vt:lpstr>Modelos espectroscópicos</vt:lpstr>
      <vt:lpstr>Modelos espectroscópicos</vt:lpstr>
      <vt:lpstr>Modelos espectroscópicos</vt:lpstr>
      <vt:lpstr>Modelo Equilibrio local termal (lte)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Sanchez</dc:creator>
  <cp:lastModifiedBy>Michael Sanchez</cp:lastModifiedBy>
  <cp:revision>39</cp:revision>
  <dcterms:created xsi:type="dcterms:W3CDTF">2026-09-11T00:44:40Z</dcterms:created>
  <dcterms:modified xsi:type="dcterms:W3CDTF">2026-09-21T20:45:19Z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